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sap Semi-Bold" panose="020B0604020202020204" charset="-93"/>
      <p:regular r:id="rId20"/>
    </p:embeddedFont>
    <p:embeddedFont>
      <p:font typeface="Be Vietnam" panose="020B0604020202020204" charset="-93"/>
      <p:regular r:id="rId21"/>
    </p:embeddedFont>
    <p:embeddedFont>
      <p:font typeface="Be Vietnam Medium" panose="020B0604020202020204" charset="-93"/>
      <p:regular r:id="rId22"/>
    </p:embeddedFont>
    <p:embeddedFont>
      <p:font typeface="Be Vietnam Ultra-Bold" panose="020B0604020202020204" charset="-93"/>
      <p:regular r:id="rId23"/>
    </p:embeddedFont>
    <p:embeddedFont>
      <p:font typeface="Cabin" panose="020B0604020202020204" charset="-93"/>
      <p:regular r:id="rId24"/>
    </p:embeddedFont>
    <p:embeddedFont>
      <p:font typeface="Francois One" panose="020B0604020202020204" charset="-93"/>
      <p:regular r:id="rId25"/>
    </p:embeddedFont>
    <p:embeddedFont>
      <p:font typeface="Muli" panose="020B0604020202020204" charset="-93"/>
      <p:regular r:id="rId26"/>
    </p:embeddedFont>
    <p:embeddedFont>
      <p:font typeface="Muli Ultra-Bold" panose="020B0604020202020204" charset="-93"/>
      <p:regular r:id="rId27"/>
    </p:embeddedFont>
    <p:embeddedFont>
      <p:font typeface="Open Sauce" panose="020B0604020202020204" charset="0"/>
      <p:regular r:id="rId28"/>
    </p:embeddedFont>
    <p:embeddedFont>
      <p:font typeface="Open Sauce Bold" panose="020B0604020202020204" charset="0"/>
      <p:regular r:id="rId29"/>
    </p:embeddedFont>
    <p:embeddedFont>
      <p:font typeface="Public Sans" panose="020B0604020202020204" charset="-9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58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B9ECDA-D893-4E50-B5B1-9466248ABBA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EFE4A-4EB4-468A-BAB6-0CE8D2406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17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EFE4A-4EB4-468A-BAB6-0CE8D240654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86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2504656">
            <a:off x="3238392" y="-2055796"/>
            <a:ext cx="17991132" cy="1549829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3" name="Group 3"/>
          <p:cNvGrpSpPr/>
          <p:nvPr/>
        </p:nvGrpSpPr>
        <p:grpSpPr>
          <a:xfrm rot="5400000">
            <a:off x="-2103884" y="-477812"/>
            <a:ext cx="10287000" cy="11242625"/>
            <a:chOff x="0" y="0"/>
            <a:chExt cx="6869494" cy="75076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69494" cy="7507645"/>
            </a:xfrm>
            <a:custGeom>
              <a:avLst/>
              <a:gdLst/>
              <a:ahLst/>
              <a:cxnLst/>
              <a:rect l="l" t="t" r="r" b="b"/>
              <a:pathLst>
                <a:path w="6869494" h="7507645">
                  <a:moveTo>
                    <a:pt x="6869494" y="7507645"/>
                  </a:moveTo>
                  <a:lnTo>
                    <a:pt x="0" y="7507645"/>
                  </a:lnTo>
                  <a:lnTo>
                    <a:pt x="0" y="0"/>
                  </a:lnTo>
                  <a:lnTo>
                    <a:pt x="6869494" y="7507645"/>
                  </a:lnTo>
                  <a:close/>
                </a:path>
              </a:pathLst>
            </a:custGeom>
            <a:solidFill>
              <a:srgbClr val="EA4B33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588736" y="0"/>
            <a:ext cx="7898932" cy="10287000"/>
            <a:chOff x="0" y="0"/>
            <a:chExt cx="8851059" cy="115269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51059" cy="11526982"/>
            </a:xfrm>
            <a:custGeom>
              <a:avLst/>
              <a:gdLst/>
              <a:ahLst/>
              <a:cxnLst/>
              <a:rect l="l" t="t" r="r" b="b"/>
              <a:pathLst>
                <a:path w="8851059" h="11526982">
                  <a:moveTo>
                    <a:pt x="8851059" y="11526982"/>
                  </a:moveTo>
                  <a:lnTo>
                    <a:pt x="0" y="11526982"/>
                  </a:lnTo>
                  <a:lnTo>
                    <a:pt x="0" y="0"/>
                  </a:lnTo>
                  <a:lnTo>
                    <a:pt x="8851059" y="11526982"/>
                  </a:lnTo>
                  <a:close/>
                </a:path>
              </a:pathLst>
            </a:custGeom>
            <a:solidFill>
              <a:srgbClr val="0288D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477869" y="2954382"/>
            <a:ext cx="11781431" cy="3680260"/>
            <a:chOff x="0" y="0"/>
            <a:chExt cx="15708574" cy="4907013"/>
          </a:xfrm>
        </p:grpSpPr>
        <p:sp>
          <p:nvSpPr>
            <p:cNvPr id="8" name="TextBox 8"/>
            <p:cNvSpPr txBox="1"/>
            <p:nvPr/>
          </p:nvSpPr>
          <p:spPr>
            <a:xfrm>
              <a:off x="0" y="142875"/>
              <a:ext cx="15708574" cy="14276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750"/>
                </a:lnSpc>
              </a:pPr>
              <a:r>
                <a:rPr lang="en-US" sz="7750" b="1">
                  <a:solidFill>
                    <a:srgbClr val="191919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Báo cáo đồ án tốt nghiệp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073845"/>
              <a:ext cx="15708574" cy="1623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952"/>
                </a:lnSpc>
              </a:pPr>
              <a:r>
                <a:rPr lang="en-US" sz="3537">
                  <a:solidFill>
                    <a:srgbClr val="191919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Tên đề tài: Nghiên cứu và xây dựng hệ thống website khảo sát theo mô hình mvc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297202"/>
              <a:ext cx="7200293" cy="6098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520"/>
                </a:lnSpc>
                <a:spcBef>
                  <a:spcPct val="0"/>
                </a:spcBef>
              </a:pPr>
              <a:r>
                <a:rPr lang="en-US" sz="3200" b="1">
                  <a:solidFill>
                    <a:srgbClr val="191919"/>
                  </a:solidFill>
                  <a:latin typeface="Be Vietnam Medium"/>
                  <a:ea typeface="Be Vietnam Medium"/>
                  <a:cs typeface="Be Vietnam Medium"/>
                  <a:sym typeface="Be Vietnam Medium"/>
                </a:rPr>
                <a:t>GVHD: Phạm Văn Kiên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6078035">
            <a:off x="-3267573" y="135072"/>
            <a:ext cx="13593765" cy="10097433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3" name="Group 3"/>
          <p:cNvGrpSpPr/>
          <p:nvPr/>
        </p:nvGrpSpPr>
        <p:grpSpPr>
          <a:xfrm>
            <a:off x="1028700" y="4020655"/>
            <a:ext cx="6886146" cy="2245690"/>
            <a:chOff x="0" y="0"/>
            <a:chExt cx="9181529" cy="2994253"/>
          </a:xfrm>
        </p:grpSpPr>
        <p:sp>
          <p:nvSpPr>
            <p:cNvPr id="4" name="TextBox 4"/>
            <p:cNvSpPr txBox="1"/>
            <p:nvPr/>
          </p:nvSpPr>
          <p:spPr>
            <a:xfrm>
              <a:off x="0" y="342900"/>
              <a:ext cx="9181529" cy="114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750"/>
                </a:lnSpc>
                <a:spcBef>
                  <a:spcPct val="0"/>
                </a:spcBef>
              </a:pPr>
              <a:r>
                <a:rPr lang="en-US" sz="5625" u="none">
                  <a:solidFill>
                    <a:srgbClr val="052896"/>
                  </a:solidFill>
                  <a:latin typeface="Francois One"/>
                  <a:ea typeface="Francois One"/>
                  <a:cs typeface="Francois One"/>
                  <a:sym typeface="Francois One"/>
                </a:rPr>
                <a:t>Nội dung chương trình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314803"/>
              <a:ext cx="9181529" cy="682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6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Nội dung của </a:t>
              </a:r>
              <a:r>
                <a:rPr lang="en-US" sz="3200" u="none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báo cáo này bao gồm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94144" y="3966845"/>
            <a:ext cx="6559588" cy="22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Giới thiệu đề tài và lý do chọn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Mục tiêu và phạm vi nghiên cứu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Kiến trúc của hệ thống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Thiết kế hệ thống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Đánh giá và kết luận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2264125" y="4263125"/>
            <a:ext cx="4004054" cy="8043695"/>
            <a:chOff x="0" y="0"/>
            <a:chExt cx="5350489" cy="107485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50489" cy="10748533"/>
            </a:xfrm>
            <a:custGeom>
              <a:avLst/>
              <a:gdLst/>
              <a:ahLst/>
              <a:cxnLst/>
              <a:rect l="l" t="t" r="r" b="b"/>
              <a:pathLst>
                <a:path w="5350489" h="10748533">
                  <a:moveTo>
                    <a:pt x="5350489" y="10748533"/>
                  </a:moveTo>
                  <a:lnTo>
                    <a:pt x="0" y="10748533"/>
                  </a:lnTo>
                  <a:lnTo>
                    <a:pt x="0" y="0"/>
                  </a:lnTo>
                  <a:lnTo>
                    <a:pt x="5350489" y="10748533"/>
                  </a:lnTo>
                  <a:close/>
                </a:path>
              </a:pathLst>
            </a:custGeom>
            <a:solidFill>
              <a:srgbClr val="EA4B33"/>
            </a:solid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0" y="-8577"/>
            <a:ext cx="7250190" cy="4300062"/>
            <a:chOff x="0" y="0"/>
            <a:chExt cx="11811432" cy="7005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811432" cy="7005319"/>
            </a:xfrm>
            <a:custGeom>
              <a:avLst/>
              <a:gdLst/>
              <a:ahLst/>
              <a:cxnLst/>
              <a:rect l="l" t="t" r="r" b="b"/>
              <a:pathLst>
                <a:path w="11811432" h="7005319">
                  <a:moveTo>
                    <a:pt x="11811432" y="7005319"/>
                  </a:moveTo>
                  <a:lnTo>
                    <a:pt x="0" y="7005319"/>
                  </a:lnTo>
                  <a:lnTo>
                    <a:pt x="0" y="0"/>
                  </a:lnTo>
                  <a:lnTo>
                    <a:pt x="11811432" y="700531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630134"/>
            <a:ext cx="8990255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70"/>
              </a:lnSpc>
              <a:spcBef>
                <a:spcPct val="0"/>
              </a:spcBef>
            </a:pPr>
            <a:r>
              <a:rPr lang="en-US" sz="8475" b="1">
                <a:solidFill>
                  <a:srgbClr val="19191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Giới thiệu đề tài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422874"/>
            <a:ext cx="15168021" cy="103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>
                <a:solidFill>
                  <a:srgbClr val="191919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Mục tiêu:</a:t>
            </a:r>
            <a:r>
              <a:rPr lang="en-US" sz="3200">
                <a:solidFill>
                  <a:srgbClr val="191919"/>
                </a:solidFill>
                <a:latin typeface="Be Vietnam"/>
                <a:ea typeface="Be Vietnam"/>
                <a:cs typeface="Be Vietnam"/>
                <a:sym typeface="Be Vietnam"/>
              </a:rPr>
              <a:t> Xây dựng một hệ thống khảo sát trực tuyến phục vụ nhà trường, cho phép tạo - quản lý - thực hiện - thống kê khảo sát nhanh, an toàn, linh hoạt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934809"/>
            <a:ext cx="15168021" cy="222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191919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Lý do chọn đề tài: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91919"/>
                </a:solidFill>
                <a:latin typeface="Be Vietnam"/>
                <a:ea typeface="Be Vietnam"/>
                <a:cs typeface="Be Vietnam"/>
                <a:sym typeface="Be Vietnam"/>
              </a:rPr>
              <a:t>Khảo sát trực tuyến giúp thu thập dữ liệu nhanh, tiết kiệm chi phí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91919"/>
                </a:solidFill>
                <a:latin typeface="Be Vietnam"/>
                <a:ea typeface="Be Vietnam"/>
                <a:cs typeface="Be Vietnam"/>
                <a:sym typeface="Be Vietnam"/>
              </a:rPr>
              <a:t>Tự xây dựng hệ thống giúp tự chủ, bảo mật và tùy biến cao hơn so với Google Forms hay SurverMonkey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663404"/>
            <a:ext cx="15323018" cy="103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>
                <a:solidFill>
                  <a:srgbClr val="191919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Ứng dụng thực tế:</a:t>
            </a:r>
            <a:r>
              <a:rPr lang="en-US" sz="3200">
                <a:solidFill>
                  <a:srgbClr val="191919"/>
                </a:solidFill>
                <a:latin typeface="Be Vietnam"/>
                <a:ea typeface="Be Vietnam"/>
                <a:cs typeface="Be Vietnam"/>
                <a:sym typeface="Be Vietnam"/>
              </a:rPr>
              <a:t> Lấy ý kiến của tân sinh viên về hoạt động tuyển sinh và nhập học, lấy ý kiến giảng viên về các hoạt động hỗ trợ, môi trường làm việc .v.v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027826"/>
            <a:ext cx="18288000" cy="8259174"/>
            <a:chOff x="0" y="0"/>
            <a:chExt cx="1444978" cy="652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652577"/>
            </a:xfrm>
            <a:custGeom>
              <a:avLst/>
              <a:gdLst/>
              <a:ahLst/>
              <a:cxnLst/>
              <a:rect l="l" t="t" r="r" b="b"/>
              <a:pathLst>
                <a:path w="1444978" h="652577">
                  <a:moveTo>
                    <a:pt x="0" y="0"/>
                  </a:moveTo>
                  <a:lnTo>
                    <a:pt x="1444978" y="0"/>
                  </a:lnTo>
                  <a:lnTo>
                    <a:pt x="1444978" y="652577"/>
                  </a:lnTo>
                  <a:lnTo>
                    <a:pt x="0" y="6525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444978" cy="738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6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173455" y="3893993"/>
            <a:ext cx="1411137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 rot="-10800000">
            <a:off x="14531956" y="-1728218"/>
            <a:ext cx="3756044" cy="3756044"/>
          </a:xfrm>
          <a:custGeom>
            <a:avLst/>
            <a:gdLst/>
            <a:ahLst/>
            <a:cxnLst/>
            <a:rect l="l" t="t" r="r" b="b"/>
            <a:pathLst>
              <a:path w="3756044" h="3756044">
                <a:moveTo>
                  <a:pt x="0" y="0"/>
                </a:moveTo>
                <a:lnTo>
                  <a:pt x="3756044" y="0"/>
                </a:lnTo>
                <a:lnTo>
                  <a:pt x="3756044" y="3756044"/>
                </a:lnTo>
                <a:lnTo>
                  <a:pt x="0" y="3756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33462" y="597995"/>
            <a:ext cx="13833258" cy="100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00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Mục tiêu và phạm vi nghiên cứu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3455" y="2610598"/>
            <a:ext cx="6379543" cy="6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4"/>
              </a:lnSpc>
            </a:pPr>
            <a:r>
              <a:rPr lang="en-US" sz="4503" b="1">
                <a:solidFill>
                  <a:srgbClr val="FF6937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1. Mục tiêu tổng quát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3455" y="4140731"/>
            <a:ext cx="5521837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>
                <a:solidFill>
                  <a:srgbClr val="FF6937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2. Mục tiêu cụ thể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3455" y="6833670"/>
            <a:ext cx="5521837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499" b="1">
                <a:solidFill>
                  <a:srgbClr val="FF6937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3. Phạm vi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5777" y="3237680"/>
            <a:ext cx="1288740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Xây dựng website khảo sát  trực tuyến nội bộ theo mô hình mvc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6782" y="4763031"/>
            <a:ext cx="13316397" cy="179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Thiết kế hệ thống sử dụng laravel + MySQL</a:t>
            </a:r>
          </a:p>
          <a:p>
            <a:pPr marL="647695" lvl="1" indent="-323848" algn="just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Quản trị viên có thể tạo, nhân bản, quản lý mẫu khảo sát</a:t>
            </a:r>
          </a:p>
          <a:p>
            <a:pPr marL="647695" lvl="1" indent="-323848" algn="just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Tích hợp reCAPTCHA, ghi log thao tác, xuất báo cáo Excel/pdf</a:t>
            </a:r>
          </a:p>
          <a:p>
            <a:pPr marL="647695" lvl="1" indent="-323848" algn="just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Ứng dụng thực tế tại Trường đại học Sao Đỏ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6782" y="7636945"/>
            <a:ext cx="13316397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Người dùng: Quản trị viên - Người khảo sát</a:t>
            </a:r>
          </a:p>
          <a:p>
            <a:pPr marL="647695" lvl="1" indent="-323848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Chức năng: CURD khảo sát, quản lý đợt khảo sát, thống kê, sao lưu</a:t>
            </a:r>
          </a:p>
          <a:p>
            <a:pPr marL="647695" lvl="1" indent="-323848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Kỹ thuật: Laravel, Bootstrap, reCAPTCHA, Chart.js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276782" y="6758518"/>
            <a:ext cx="1411137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93085" y="1752707"/>
            <a:ext cx="13857334" cy="4159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272"/>
              </a:lnSpc>
            </a:pPr>
            <a:r>
              <a:rPr lang="en-US" sz="14793" b="1">
                <a:solidFill>
                  <a:srgbClr val="FFFFFF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Kiến trúc của hệ thống</a:t>
            </a:r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878637" y="1690681"/>
            <a:ext cx="16100044" cy="12718683"/>
            <a:chOff x="0" y="0"/>
            <a:chExt cx="12769233" cy="100874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69234" cy="10087415"/>
            </a:xfrm>
            <a:custGeom>
              <a:avLst/>
              <a:gdLst/>
              <a:ahLst/>
              <a:cxnLst/>
              <a:rect l="l" t="t" r="r" b="b"/>
              <a:pathLst>
                <a:path w="12769234" h="10087415">
                  <a:moveTo>
                    <a:pt x="12769234" y="10087415"/>
                  </a:moveTo>
                  <a:lnTo>
                    <a:pt x="0" y="10087415"/>
                  </a:lnTo>
                  <a:lnTo>
                    <a:pt x="0" y="0"/>
                  </a:lnTo>
                  <a:lnTo>
                    <a:pt x="12769234" y="10087415"/>
                  </a:lnTo>
                  <a:close/>
                </a:path>
              </a:pathLst>
            </a:custGeom>
            <a:solidFill>
              <a:srgbClr val="EA4B33"/>
            </a:solid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80764">
            <a:off x="-2765563" y="7093140"/>
            <a:ext cx="6103518" cy="5277708"/>
          </a:xfrm>
          <a:custGeom>
            <a:avLst/>
            <a:gdLst/>
            <a:ahLst/>
            <a:cxnLst/>
            <a:rect l="l" t="t" r="r" b="b"/>
            <a:pathLst>
              <a:path w="6103518" h="5277708">
                <a:moveTo>
                  <a:pt x="0" y="0"/>
                </a:moveTo>
                <a:lnTo>
                  <a:pt x="6103518" y="0"/>
                </a:lnTo>
                <a:lnTo>
                  <a:pt x="6103518" y="5277708"/>
                </a:lnTo>
                <a:lnTo>
                  <a:pt x="0" y="5277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6307098"/>
            <a:chOff x="0" y="0"/>
            <a:chExt cx="4274726" cy="16611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661129"/>
            </a:xfrm>
            <a:custGeom>
              <a:avLst/>
              <a:gdLst/>
              <a:ahLst/>
              <a:cxnLst/>
              <a:rect l="l" t="t" r="r" b="b"/>
              <a:pathLst>
                <a:path w="4274726" h="1661129">
                  <a:moveTo>
                    <a:pt x="0" y="0"/>
                  </a:moveTo>
                  <a:lnTo>
                    <a:pt x="4274726" y="0"/>
                  </a:lnTo>
                  <a:lnTo>
                    <a:pt x="4274726" y="1661129"/>
                  </a:lnTo>
                  <a:lnTo>
                    <a:pt x="0" y="166112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1737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50329" y="1749964"/>
            <a:ext cx="9900155" cy="95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1"/>
              </a:lnSpc>
            </a:pPr>
            <a:r>
              <a:rPr lang="en-US" sz="7059" b="1">
                <a:solidFill>
                  <a:srgbClr val="00000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LARAVEL FRAMEWORK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0329" y="3286063"/>
            <a:ext cx="14896875" cy="172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4442" lvl="1" indent="-357221" algn="just">
              <a:lnSpc>
                <a:spcPts val="4632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Mô hình MVC: tách biệt giữa model - controll - view</a:t>
            </a:r>
          </a:p>
          <a:p>
            <a:pPr marL="714442" lvl="1" indent="-357221" algn="just">
              <a:lnSpc>
                <a:spcPts val="4632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Thành phần: Route, Middleware, Controller, Blade Template</a:t>
            </a:r>
          </a:p>
          <a:p>
            <a:pPr marL="714442" lvl="1" indent="-357221" algn="just">
              <a:lnSpc>
                <a:spcPts val="4632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Ưu điểm: cấu trúc rõ ràng, dễ mở rộng, bảo mật tốt, cộng đồng lớn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80764">
            <a:off x="-2765563" y="7093140"/>
            <a:ext cx="6103518" cy="5277708"/>
          </a:xfrm>
          <a:custGeom>
            <a:avLst/>
            <a:gdLst/>
            <a:ahLst/>
            <a:cxnLst/>
            <a:rect l="l" t="t" r="r" b="b"/>
            <a:pathLst>
              <a:path w="6103518" h="5277708">
                <a:moveTo>
                  <a:pt x="0" y="0"/>
                </a:moveTo>
                <a:lnTo>
                  <a:pt x="6103518" y="0"/>
                </a:lnTo>
                <a:lnTo>
                  <a:pt x="6103518" y="5277708"/>
                </a:lnTo>
                <a:lnTo>
                  <a:pt x="0" y="5277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16230600" cy="6307098"/>
            <a:chOff x="0" y="0"/>
            <a:chExt cx="4274726" cy="16611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661129"/>
            </a:xfrm>
            <a:custGeom>
              <a:avLst/>
              <a:gdLst/>
              <a:ahLst/>
              <a:cxnLst/>
              <a:rect l="l" t="t" r="r" b="b"/>
              <a:pathLst>
                <a:path w="4274726" h="1661129">
                  <a:moveTo>
                    <a:pt x="0" y="0"/>
                  </a:moveTo>
                  <a:lnTo>
                    <a:pt x="4274726" y="0"/>
                  </a:lnTo>
                  <a:lnTo>
                    <a:pt x="4274726" y="1661129"/>
                  </a:lnTo>
                  <a:lnTo>
                    <a:pt x="0" y="1661129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4274726" cy="1737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921234" y="1638294"/>
            <a:ext cx="7493671" cy="95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1"/>
              </a:lnSpc>
            </a:pPr>
            <a:r>
              <a:rPr lang="en-US" sz="7059" b="1">
                <a:solidFill>
                  <a:srgbClr val="00000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MySQL Database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21234" y="3286063"/>
            <a:ext cx="14896875" cy="172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4442" lvl="1" indent="-357221" algn="just">
              <a:lnSpc>
                <a:spcPts val="4632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CSDL quan hệ, hiệu suất cao, dễ mở rộng</a:t>
            </a:r>
          </a:p>
          <a:p>
            <a:pPr marL="714442" lvl="1" indent="-357221" algn="just">
              <a:lnSpc>
                <a:spcPts val="4632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Hỗ trợ ACID, Index, truy vấn SQL mạnh mẽ</a:t>
            </a:r>
          </a:p>
          <a:p>
            <a:pPr marL="714442" lvl="1" indent="-357221" algn="just">
              <a:lnSpc>
                <a:spcPts val="4632"/>
              </a:lnSpc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Dùng để lưu người dùng, khảo sát, câu hỏi, câu trả lời, kết quả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10876460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19"/>
              </a:lnSpc>
              <a:spcBef>
                <a:spcPct val="0"/>
              </a:spcBef>
            </a:pPr>
            <a:r>
              <a:rPr lang="en-US" sz="8099" b="1">
                <a:solidFill>
                  <a:srgbClr val="19191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Thiết kế hệ thống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77836" y="2432848"/>
            <a:ext cx="942600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191919"/>
                </a:solidFill>
                <a:latin typeface="Be Vietnam"/>
                <a:ea typeface="Be Vietnam"/>
                <a:cs typeface="Be Vietnam"/>
                <a:sym typeface="Be Vietnam"/>
              </a:rPr>
              <a:t>Hệ thống khảo sát đảm bảo các yêu cầu: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359753" y="3711803"/>
            <a:ext cx="8046625" cy="1068908"/>
            <a:chOff x="0" y="0"/>
            <a:chExt cx="10728834" cy="1425210"/>
          </a:xfrm>
        </p:grpSpPr>
        <p:sp>
          <p:nvSpPr>
            <p:cNvPr id="5" name="TextBox 5"/>
            <p:cNvSpPr txBox="1"/>
            <p:nvPr/>
          </p:nvSpPr>
          <p:spPr>
            <a:xfrm>
              <a:off x="2108302" y="-57150"/>
              <a:ext cx="8620532" cy="1482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86"/>
                </a:lnSpc>
              </a:pPr>
              <a:r>
                <a:rPr lang="en-US" sz="3275">
                  <a:solidFill>
                    <a:srgbClr val="191919"/>
                  </a:solidFill>
                  <a:latin typeface="Be Vietnam"/>
                  <a:ea typeface="Be Vietnam"/>
                  <a:cs typeface="Be Vietnam"/>
                  <a:sym typeface="Be Vietnam"/>
                </a:rPr>
                <a:t>Yêu cầu chức năng của admin và người dùng</a:t>
              </a: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0" y="143872"/>
              <a:ext cx="1148217" cy="1137467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255371" y="477855"/>
              <a:ext cx="637774" cy="4711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</a:pPr>
              <a:r>
                <a:rPr lang="en-US" sz="2271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59753" y="5657324"/>
            <a:ext cx="8046625" cy="817916"/>
            <a:chOff x="0" y="0"/>
            <a:chExt cx="10728834" cy="1090555"/>
          </a:xfrm>
        </p:grpSpPr>
        <p:sp>
          <p:nvSpPr>
            <p:cNvPr id="10" name="TextBox 10"/>
            <p:cNvSpPr txBox="1"/>
            <p:nvPr/>
          </p:nvSpPr>
          <p:spPr>
            <a:xfrm>
              <a:off x="2108302" y="57417"/>
              <a:ext cx="8620532" cy="714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86"/>
                </a:lnSpc>
              </a:pPr>
              <a:r>
                <a:rPr lang="en-US" sz="3275">
                  <a:solidFill>
                    <a:srgbClr val="191919"/>
                  </a:solidFill>
                  <a:latin typeface="Be Vietnam"/>
                  <a:ea typeface="Be Vietnam"/>
                  <a:cs typeface="Be Vietnam"/>
                  <a:sym typeface="Be Vietnam"/>
                </a:rPr>
                <a:t>Yêu cầu phi chức năng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0"/>
              <a:ext cx="1100861" cy="1090555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244775" y="310206"/>
              <a:ext cx="611311" cy="461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2"/>
                </a:lnSpc>
              </a:pPr>
              <a:r>
                <a:rPr lang="en-US" sz="2176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59753" y="7167737"/>
            <a:ext cx="8046625" cy="1068908"/>
            <a:chOff x="0" y="0"/>
            <a:chExt cx="10728834" cy="1425210"/>
          </a:xfrm>
        </p:grpSpPr>
        <p:sp>
          <p:nvSpPr>
            <p:cNvPr id="15" name="TextBox 15"/>
            <p:cNvSpPr txBox="1"/>
            <p:nvPr/>
          </p:nvSpPr>
          <p:spPr>
            <a:xfrm>
              <a:off x="2043554" y="-57150"/>
              <a:ext cx="8685280" cy="1482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86"/>
                </a:lnSpc>
              </a:pPr>
              <a:r>
                <a:rPr lang="en-US" sz="3275">
                  <a:solidFill>
                    <a:srgbClr val="191919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Cơ sở dữ liệu bảo toàn tính toàn vẹn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167328"/>
              <a:ext cx="1100861" cy="1090555"/>
              <a:chOff x="0" y="0"/>
              <a:chExt cx="6350000" cy="6350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244775" y="477533"/>
              <a:ext cx="611311" cy="4510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2"/>
                </a:lnSpc>
              </a:pPr>
              <a:r>
                <a:rPr lang="en-US" sz="2176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0" y="6782334"/>
            <a:ext cx="7469872" cy="3504666"/>
            <a:chOff x="0" y="0"/>
            <a:chExt cx="10502345" cy="492742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02345" cy="4927422"/>
            </a:xfrm>
            <a:custGeom>
              <a:avLst/>
              <a:gdLst/>
              <a:ahLst/>
              <a:cxnLst/>
              <a:rect l="l" t="t" r="r" b="b"/>
              <a:pathLst>
                <a:path w="10502345" h="4927422">
                  <a:moveTo>
                    <a:pt x="10502345" y="4927422"/>
                  </a:moveTo>
                  <a:lnTo>
                    <a:pt x="0" y="4927422"/>
                  </a:lnTo>
                  <a:lnTo>
                    <a:pt x="0" y="0"/>
                  </a:lnTo>
                  <a:lnTo>
                    <a:pt x="10502345" y="4927422"/>
                  </a:lnTo>
                  <a:close/>
                </a:path>
              </a:pathLst>
            </a:custGeom>
            <a:solidFill>
              <a:srgbClr val="EA4B33"/>
            </a:solid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0098705" y="4088909"/>
            <a:ext cx="5240221" cy="491627"/>
            <a:chOff x="0" y="0"/>
            <a:chExt cx="6986961" cy="655503"/>
          </a:xfrm>
        </p:grpSpPr>
        <p:sp>
          <p:nvSpPr>
            <p:cNvPr id="4" name="TextBox 4"/>
            <p:cNvSpPr txBox="1"/>
            <p:nvPr/>
          </p:nvSpPr>
          <p:spPr>
            <a:xfrm>
              <a:off x="1002255" y="125817"/>
              <a:ext cx="5984706" cy="359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0"/>
                </a:lnSpc>
              </a:pPr>
              <a:r>
                <a:rPr lang="en-US" sz="151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Làm khảo sát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655503" cy="655503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9751" y="102724"/>
              <a:ext cx="588555" cy="406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66"/>
                </a:lnSpc>
              </a:pPr>
              <a:r>
                <a:rPr lang="en-US" sz="172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98705" y="4888162"/>
            <a:ext cx="5240221" cy="491627"/>
            <a:chOff x="0" y="0"/>
            <a:chExt cx="6986961" cy="655503"/>
          </a:xfrm>
        </p:grpSpPr>
        <p:sp>
          <p:nvSpPr>
            <p:cNvPr id="10" name="TextBox 10"/>
            <p:cNvSpPr txBox="1"/>
            <p:nvPr/>
          </p:nvSpPr>
          <p:spPr>
            <a:xfrm>
              <a:off x="1002255" y="125817"/>
              <a:ext cx="5984706" cy="359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0"/>
                </a:lnSpc>
              </a:pPr>
              <a:r>
                <a:rPr lang="en-US" sz="151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Xem lại các câu trả lời đã khảo sát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0"/>
              <a:ext cx="655503" cy="655503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26612" y="102724"/>
              <a:ext cx="588555" cy="406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66"/>
                </a:lnSpc>
              </a:pPr>
              <a:r>
                <a:rPr lang="en-US" sz="172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1028700" y="1514011"/>
            <a:ext cx="72879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028700" y="581489"/>
            <a:ext cx="6733120" cy="894423"/>
            <a:chOff x="0" y="0"/>
            <a:chExt cx="8977494" cy="1192564"/>
          </a:xfrm>
        </p:grpSpPr>
        <p:sp>
          <p:nvSpPr>
            <p:cNvPr id="17" name="TextBox 17"/>
            <p:cNvSpPr txBox="1"/>
            <p:nvPr/>
          </p:nvSpPr>
          <p:spPr>
            <a:xfrm>
              <a:off x="1764149" y="-57150"/>
              <a:ext cx="7213344" cy="1249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7"/>
                </a:lnSpc>
              </a:pPr>
              <a:r>
                <a:rPr lang="en-US" sz="2741">
                  <a:solidFill>
                    <a:srgbClr val="191919"/>
                  </a:solidFill>
                  <a:latin typeface="Be Vietnam"/>
                  <a:ea typeface="Be Vietnam"/>
                  <a:cs typeface="Be Vietnam"/>
                  <a:sym typeface="Be Vietnam"/>
                </a:rPr>
                <a:t>Yêu cầu chức năng của admin và người dùng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120263"/>
              <a:ext cx="961036" cy="952038"/>
              <a:chOff x="0" y="0"/>
              <a:chExt cx="6350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213685" y="407698"/>
              <a:ext cx="533666" cy="386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01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9144000" y="2120646"/>
            <a:ext cx="0" cy="8156829"/>
          </a:xfrm>
          <a:prstGeom prst="line">
            <a:avLst/>
          </a:prstGeom>
          <a:ln w="76200" cap="flat">
            <a:solidFill>
              <a:srgbClr val="000000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0" y="2120646"/>
            <a:ext cx="18248604" cy="0"/>
          </a:xfrm>
          <a:prstGeom prst="line">
            <a:avLst/>
          </a:prstGeom>
          <a:ln w="76200" cap="flat">
            <a:solidFill>
              <a:srgbClr val="000000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137673" y="3281602"/>
            <a:ext cx="5556855" cy="521333"/>
            <a:chOff x="0" y="0"/>
            <a:chExt cx="7409141" cy="695111"/>
          </a:xfrm>
        </p:grpSpPr>
        <p:sp>
          <p:nvSpPr>
            <p:cNvPr id="24" name="TextBox 24"/>
            <p:cNvSpPr txBox="1"/>
            <p:nvPr/>
          </p:nvSpPr>
          <p:spPr>
            <a:xfrm>
              <a:off x="1062815" y="135616"/>
              <a:ext cx="6346325" cy="380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6"/>
                </a:lnSpc>
              </a:pPr>
              <a:r>
                <a:rPr lang="en-US" sz="160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Đăng nhập - phân quyền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0" y="0"/>
              <a:ext cx="695111" cy="695111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0944" y="102859"/>
              <a:ext cx="624118" cy="43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3"/>
                </a:lnSpc>
              </a:pPr>
              <a:r>
                <a:rPr lang="en-US" sz="183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68139" y="2427938"/>
            <a:ext cx="4186535" cy="529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7"/>
              </a:lnSpc>
              <a:spcBef>
                <a:spcPct val="0"/>
              </a:spcBef>
            </a:pPr>
            <a:r>
              <a:rPr lang="en-US" sz="3141" b="1">
                <a:solidFill>
                  <a:srgbClr val="00000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Chức năng cho admin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48799" y="2484453"/>
            <a:ext cx="5043562" cy="473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7"/>
              </a:lnSpc>
              <a:spcBef>
                <a:spcPct val="0"/>
              </a:spcBef>
            </a:pPr>
            <a:r>
              <a:rPr lang="en-US" sz="2741" b="1">
                <a:solidFill>
                  <a:srgbClr val="000000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Chức năng cho người khảo sát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37673" y="4088909"/>
            <a:ext cx="5556855" cy="521333"/>
            <a:chOff x="0" y="0"/>
            <a:chExt cx="7409141" cy="695111"/>
          </a:xfrm>
        </p:grpSpPr>
        <p:sp>
          <p:nvSpPr>
            <p:cNvPr id="32" name="TextBox 32"/>
            <p:cNvSpPr txBox="1"/>
            <p:nvPr/>
          </p:nvSpPr>
          <p:spPr>
            <a:xfrm>
              <a:off x="1062815" y="135616"/>
              <a:ext cx="6346325" cy="380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6"/>
                </a:lnSpc>
              </a:pPr>
              <a:r>
                <a:rPr lang="en-US" sz="160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Quản lý mẫu khảo sát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0" y="0"/>
              <a:ext cx="695111" cy="695111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0944" y="102859"/>
              <a:ext cx="624118" cy="43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3"/>
                </a:lnSpc>
              </a:pPr>
              <a:r>
                <a:rPr lang="en-US" sz="183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37673" y="4897947"/>
            <a:ext cx="5556855" cy="521333"/>
            <a:chOff x="0" y="0"/>
            <a:chExt cx="7409141" cy="695111"/>
          </a:xfrm>
        </p:grpSpPr>
        <p:sp>
          <p:nvSpPr>
            <p:cNvPr id="38" name="TextBox 38"/>
            <p:cNvSpPr txBox="1"/>
            <p:nvPr/>
          </p:nvSpPr>
          <p:spPr>
            <a:xfrm>
              <a:off x="1062815" y="135616"/>
              <a:ext cx="6346325" cy="380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6"/>
                </a:lnSpc>
              </a:pPr>
              <a:r>
                <a:rPr lang="en-US" sz="160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Quản lý đợt khảo sát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0" y="0"/>
              <a:ext cx="695111" cy="695111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20944" y="102859"/>
              <a:ext cx="624118" cy="43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3"/>
                </a:lnSpc>
              </a:pPr>
              <a:r>
                <a:rPr lang="en-US" sz="183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37673" y="5706985"/>
            <a:ext cx="5556855" cy="521333"/>
            <a:chOff x="0" y="0"/>
            <a:chExt cx="7409141" cy="695111"/>
          </a:xfrm>
        </p:grpSpPr>
        <p:sp>
          <p:nvSpPr>
            <p:cNvPr id="44" name="TextBox 44"/>
            <p:cNvSpPr txBox="1"/>
            <p:nvPr/>
          </p:nvSpPr>
          <p:spPr>
            <a:xfrm>
              <a:off x="1062815" y="135616"/>
              <a:ext cx="6346325" cy="380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6"/>
                </a:lnSpc>
              </a:pPr>
              <a:r>
                <a:rPr lang="en-US" sz="160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Quản lý người dùng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0" y="0"/>
              <a:ext cx="695111" cy="695111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20944" y="102859"/>
              <a:ext cx="624118" cy="43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3"/>
                </a:lnSpc>
              </a:pPr>
              <a:r>
                <a:rPr lang="en-US" sz="183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37673" y="6516023"/>
            <a:ext cx="5556855" cy="521333"/>
            <a:chOff x="0" y="0"/>
            <a:chExt cx="7409141" cy="695111"/>
          </a:xfrm>
        </p:grpSpPr>
        <p:sp>
          <p:nvSpPr>
            <p:cNvPr id="50" name="TextBox 50"/>
            <p:cNvSpPr txBox="1"/>
            <p:nvPr/>
          </p:nvSpPr>
          <p:spPr>
            <a:xfrm>
              <a:off x="1062815" y="135616"/>
              <a:ext cx="6346325" cy="380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6"/>
                </a:lnSpc>
              </a:pPr>
              <a:r>
                <a:rPr lang="en-US" sz="160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Quản lý các câu hỏi tùy chỉnh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0" y="0"/>
              <a:ext cx="695111" cy="695111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20944" y="102859"/>
              <a:ext cx="624118" cy="43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3"/>
                </a:lnSpc>
              </a:pPr>
              <a:r>
                <a:rPr lang="en-US" sz="183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5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53381" y="7325061"/>
            <a:ext cx="5556855" cy="521333"/>
            <a:chOff x="0" y="0"/>
            <a:chExt cx="7409141" cy="695111"/>
          </a:xfrm>
        </p:grpSpPr>
        <p:sp>
          <p:nvSpPr>
            <p:cNvPr id="56" name="TextBox 56"/>
            <p:cNvSpPr txBox="1"/>
            <p:nvPr/>
          </p:nvSpPr>
          <p:spPr>
            <a:xfrm>
              <a:off x="1062815" y="135616"/>
              <a:ext cx="6346325" cy="380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6"/>
                </a:lnSpc>
              </a:pPr>
              <a:r>
                <a:rPr lang="en-US" sz="160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Thống kê - xuất báo cáo Excel/PDF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0" y="0"/>
              <a:ext cx="695111" cy="695111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20944" y="102859"/>
              <a:ext cx="624118" cy="43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3"/>
                </a:lnSpc>
              </a:pPr>
              <a:r>
                <a:rPr lang="en-US" sz="183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6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37673" y="8134098"/>
            <a:ext cx="5556855" cy="521333"/>
            <a:chOff x="0" y="0"/>
            <a:chExt cx="7409141" cy="695111"/>
          </a:xfrm>
        </p:grpSpPr>
        <p:sp>
          <p:nvSpPr>
            <p:cNvPr id="62" name="TextBox 62"/>
            <p:cNvSpPr txBox="1"/>
            <p:nvPr/>
          </p:nvSpPr>
          <p:spPr>
            <a:xfrm>
              <a:off x="1062815" y="135616"/>
              <a:ext cx="6346325" cy="380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6"/>
                </a:lnSpc>
              </a:pPr>
              <a:r>
                <a:rPr lang="en-US" sz="160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Sao lưu và khôi phục cơ sở dữ liệu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0" y="0"/>
              <a:ext cx="695111" cy="695111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20944" y="102859"/>
              <a:ext cx="624118" cy="43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3"/>
                </a:lnSpc>
              </a:pPr>
              <a:r>
                <a:rPr lang="en-US" sz="183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7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37673" y="8943136"/>
            <a:ext cx="5556855" cy="521333"/>
            <a:chOff x="0" y="0"/>
            <a:chExt cx="7409141" cy="695111"/>
          </a:xfrm>
        </p:grpSpPr>
        <p:sp>
          <p:nvSpPr>
            <p:cNvPr id="68" name="TextBox 68"/>
            <p:cNvSpPr txBox="1"/>
            <p:nvPr/>
          </p:nvSpPr>
          <p:spPr>
            <a:xfrm>
              <a:off x="1062815" y="135616"/>
              <a:ext cx="6346325" cy="380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66"/>
                </a:lnSpc>
              </a:pPr>
              <a:r>
                <a:rPr lang="en-US" sz="1604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Lưu nhật ký hoạt động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0" y="0"/>
              <a:ext cx="695111" cy="695111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72" name="TextBox 72"/>
            <p:cNvSpPr txBox="1"/>
            <p:nvPr/>
          </p:nvSpPr>
          <p:spPr>
            <a:xfrm>
              <a:off x="20944" y="102859"/>
              <a:ext cx="624118" cy="437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33"/>
                </a:lnSpc>
              </a:pPr>
              <a:r>
                <a:rPr lang="en-US" sz="1833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8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098705" y="3281602"/>
            <a:ext cx="5240221" cy="491627"/>
            <a:chOff x="0" y="0"/>
            <a:chExt cx="6986961" cy="655503"/>
          </a:xfrm>
        </p:grpSpPr>
        <p:sp>
          <p:nvSpPr>
            <p:cNvPr id="74" name="TextBox 74"/>
            <p:cNvSpPr txBox="1"/>
            <p:nvPr/>
          </p:nvSpPr>
          <p:spPr>
            <a:xfrm>
              <a:off x="1002255" y="125817"/>
              <a:ext cx="5984706" cy="359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0"/>
                </a:lnSpc>
              </a:pPr>
              <a:r>
                <a:rPr lang="en-US" sz="151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Xem khảo sát đang mở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0" y="0"/>
              <a:ext cx="655503" cy="655503"/>
              <a:chOff x="0" y="0"/>
              <a:chExt cx="812800" cy="812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78" name="TextBox 78"/>
            <p:cNvSpPr txBox="1"/>
            <p:nvPr/>
          </p:nvSpPr>
          <p:spPr>
            <a:xfrm>
              <a:off x="19751" y="102724"/>
              <a:ext cx="588555" cy="406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766"/>
                </a:lnSpc>
              </a:pPr>
              <a:r>
                <a:rPr lang="en-US" sz="1728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338149"/>
            <a:ext cx="11350685" cy="3194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6055" lvl="1" indent="-418028" algn="l">
              <a:lnSpc>
                <a:spcPts val="5034"/>
              </a:lnSpc>
              <a:buFont typeface="Arial"/>
              <a:buChar char="•"/>
            </a:pPr>
            <a:r>
              <a:rPr lang="en-US" sz="3872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Bảo mật cao (reCAPTCHA, Hash password)</a:t>
            </a:r>
          </a:p>
          <a:p>
            <a:pPr marL="836055" lvl="1" indent="-418028" algn="l">
              <a:lnSpc>
                <a:spcPts val="5034"/>
              </a:lnSpc>
              <a:buFont typeface="Arial"/>
              <a:buChar char="•"/>
            </a:pPr>
            <a:r>
              <a:rPr lang="en-US" sz="3872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Hiệu năng ổn định, hỗ trợ nhiều người dùng đồng thời</a:t>
            </a:r>
          </a:p>
          <a:p>
            <a:pPr marL="836055" lvl="1" indent="-418028" algn="l">
              <a:lnSpc>
                <a:spcPts val="5034"/>
              </a:lnSpc>
              <a:buFont typeface="Arial"/>
              <a:buChar char="•"/>
            </a:pPr>
            <a:r>
              <a:rPr lang="en-US" sz="3872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Giao diện thân thiện, tương thích đa thiết bị</a:t>
            </a:r>
          </a:p>
          <a:p>
            <a:pPr marL="836055" lvl="1" indent="-418028" algn="l">
              <a:lnSpc>
                <a:spcPts val="5034"/>
              </a:lnSpc>
              <a:buFont typeface="Arial"/>
              <a:buChar char="•"/>
            </a:pPr>
            <a:r>
              <a:rPr lang="en-US" sz="3872">
                <a:solidFill>
                  <a:srgbClr val="191919"/>
                </a:solidFill>
                <a:latin typeface="Public Sans"/>
                <a:ea typeface="Public Sans"/>
                <a:cs typeface="Public Sans"/>
                <a:sym typeface="Public Sans"/>
              </a:rPr>
              <a:t>Phát hiện phiếu khảo sát trùng lặp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379385" y="-1299381"/>
            <a:ext cx="10216410" cy="13593765"/>
            <a:chOff x="0" y="0"/>
            <a:chExt cx="13621880" cy="18125020"/>
          </a:xfrm>
        </p:grpSpPr>
        <p:sp>
          <p:nvSpPr>
            <p:cNvPr id="4" name="AutoShape 4"/>
            <p:cNvSpPr/>
            <p:nvPr/>
          </p:nvSpPr>
          <p:spPr>
            <a:xfrm rot="-5400000">
              <a:off x="-2172253" y="2330888"/>
              <a:ext cx="18125020" cy="13463244"/>
            </a:xfrm>
            <a:prstGeom prst="rect">
              <a:avLst/>
            </a:prstGeom>
            <a:solidFill>
              <a:srgbClr val="0288D0"/>
            </a:solidFill>
          </p:spPr>
        </p:sp>
        <p:grpSp>
          <p:nvGrpSpPr>
            <p:cNvPr id="5" name="Group 5"/>
            <p:cNvGrpSpPr/>
            <p:nvPr/>
          </p:nvGrpSpPr>
          <p:grpSpPr>
            <a:xfrm rot="5400000">
              <a:off x="1891246" y="-158739"/>
              <a:ext cx="5982525" cy="9765017"/>
              <a:chOff x="0" y="0"/>
              <a:chExt cx="7309690" cy="1193129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309690" cy="11931291"/>
              </a:xfrm>
              <a:custGeom>
                <a:avLst/>
                <a:gdLst/>
                <a:ahLst/>
                <a:cxnLst/>
                <a:rect l="l" t="t" r="r" b="b"/>
                <a:pathLst>
                  <a:path w="7309690" h="11931291">
                    <a:moveTo>
                      <a:pt x="7309690" y="11931291"/>
                    </a:moveTo>
                    <a:lnTo>
                      <a:pt x="0" y="11931291"/>
                    </a:lnTo>
                    <a:lnTo>
                      <a:pt x="0" y="0"/>
                    </a:lnTo>
                    <a:lnTo>
                      <a:pt x="7309690" y="1193129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158635" y="7715032"/>
              <a:ext cx="4723873" cy="7733475"/>
              <a:chOff x="0" y="0"/>
              <a:chExt cx="5853757" cy="958321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853757" cy="9583214"/>
              </a:xfrm>
              <a:custGeom>
                <a:avLst/>
                <a:gdLst/>
                <a:ahLst/>
                <a:cxnLst/>
                <a:rect l="l" t="t" r="r" b="b"/>
                <a:pathLst>
                  <a:path w="5853757" h="9583214">
                    <a:moveTo>
                      <a:pt x="5853757" y="9583214"/>
                    </a:moveTo>
                    <a:lnTo>
                      <a:pt x="0" y="9583214"/>
                    </a:lnTo>
                    <a:lnTo>
                      <a:pt x="0" y="0"/>
                    </a:lnTo>
                    <a:lnTo>
                      <a:pt x="5853757" y="9583214"/>
                    </a:ln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</p:grpSp>
      <p:grpSp>
        <p:nvGrpSpPr>
          <p:cNvPr id="9" name="Group 9"/>
          <p:cNvGrpSpPr/>
          <p:nvPr/>
        </p:nvGrpSpPr>
        <p:grpSpPr>
          <a:xfrm>
            <a:off x="1028700" y="1028700"/>
            <a:ext cx="12127941" cy="1232770"/>
            <a:chOff x="0" y="0"/>
            <a:chExt cx="16170588" cy="1643693"/>
          </a:xfrm>
        </p:grpSpPr>
        <p:sp>
          <p:nvSpPr>
            <p:cNvPr id="10" name="TextBox 10"/>
            <p:cNvSpPr txBox="1"/>
            <p:nvPr/>
          </p:nvSpPr>
          <p:spPr>
            <a:xfrm>
              <a:off x="3177650" y="240903"/>
              <a:ext cx="12992938" cy="10761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912"/>
                </a:lnSpc>
              </a:pPr>
              <a:r>
                <a:rPr lang="en-US" sz="4937">
                  <a:solidFill>
                    <a:srgbClr val="191919"/>
                  </a:solidFill>
                  <a:latin typeface="Be Vietnam"/>
                  <a:ea typeface="Be Vietnam"/>
                  <a:cs typeface="Be Vietnam"/>
                  <a:sym typeface="Be Vietnam"/>
                </a:rPr>
                <a:t>Yêu cầu phi chức năng 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0"/>
              <a:ext cx="1659227" cy="1643693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368927" y="486732"/>
              <a:ext cx="921373" cy="676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37"/>
                </a:lnSpc>
              </a:pPr>
              <a:r>
                <a:rPr lang="en-US" sz="3281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7951" y="339824"/>
            <a:ext cx="5671379" cy="9607352"/>
            <a:chOff x="0" y="0"/>
            <a:chExt cx="1918466" cy="32498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8467" cy="3249895"/>
            </a:xfrm>
            <a:custGeom>
              <a:avLst/>
              <a:gdLst/>
              <a:ahLst/>
              <a:cxnLst/>
              <a:rect l="l" t="t" r="r" b="b"/>
              <a:pathLst>
                <a:path w="1918467" h="3249895">
                  <a:moveTo>
                    <a:pt x="1794006" y="3249894"/>
                  </a:moveTo>
                  <a:lnTo>
                    <a:pt x="124460" y="3249894"/>
                  </a:lnTo>
                  <a:cubicBezTo>
                    <a:pt x="55880" y="3249894"/>
                    <a:pt x="0" y="3194015"/>
                    <a:pt x="0" y="31254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94007" y="0"/>
                  </a:lnTo>
                  <a:cubicBezTo>
                    <a:pt x="1862587" y="0"/>
                    <a:pt x="1918467" y="55880"/>
                    <a:pt x="1918467" y="124460"/>
                  </a:cubicBezTo>
                  <a:lnTo>
                    <a:pt x="1918467" y="3125435"/>
                  </a:lnTo>
                  <a:cubicBezTo>
                    <a:pt x="1918467" y="3194015"/>
                    <a:pt x="1862587" y="3249895"/>
                    <a:pt x="1794007" y="324989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294793" y="339824"/>
            <a:ext cx="11321327" cy="9607352"/>
            <a:chOff x="0" y="0"/>
            <a:chExt cx="3829683" cy="32498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29684" cy="3249895"/>
            </a:xfrm>
            <a:custGeom>
              <a:avLst/>
              <a:gdLst/>
              <a:ahLst/>
              <a:cxnLst/>
              <a:rect l="l" t="t" r="r" b="b"/>
              <a:pathLst>
                <a:path w="3829684" h="3249895">
                  <a:moveTo>
                    <a:pt x="3705223" y="3249894"/>
                  </a:moveTo>
                  <a:lnTo>
                    <a:pt x="124460" y="3249894"/>
                  </a:lnTo>
                  <a:cubicBezTo>
                    <a:pt x="55880" y="3249894"/>
                    <a:pt x="0" y="3194015"/>
                    <a:pt x="0" y="31254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705223" y="0"/>
                  </a:lnTo>
                  <a:cubicBezTo>
                    <a:pt x="3773803" y="0"/>
                    <a:pt x="3829684" y="55880"/>
                    <a:pt x="3829684" y="124460"/>
                  </a:cubicBezTo>
                  <a:lnTo>
                    <a:pt x="3829684" y="3125435"/>
                  </a:lnTo>
                  <a:cubicBezTo>
                    <a:pt x="3829684" y="3194015"/>
                    <a:pt x="3773803" y="3249895"/>
                    <a:pt x="3705223" y="324989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6143859" y="339824"/>
            <a:ext cx="11769247" cy="9607352"/>
          </a:xfrm>
          <a:custGeom>
            <a:avLst/>
            <a:gdLst/>
            <a:ahLst/>
            <a:cxnLst/>
            <a:rect l="l" t="t" r="r" b="b"/>
            <a:pathLst>
              <a:path w="11769247" h="9607352">
                <a:moveTo>
                  <a:pt x="0" y="0"/>
                </a:moveTo>
                <a:lnTo>
                  <a:pt x="11769247" y="0"/>
                </a:lnTo>
                <a:lnTo>
                  <a:pt x="11769247" y="9607352"/>
                </a:lnTo>
                <a:lnTo>
                  <a:pt x="0" y="9607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27" r="-232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288515"/>
            <a:ext cx="4051459" cy="7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49"/>
              </a:lnSpc>
            </a:pPr>
            <a:r>
              <a:rPr lang="en-US" sz="4499" b="1" spc="-134">
                <a:solidFill>
                  <a:srgbClr val="191919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Cơ sở dữ liệu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242374"/>
            <a:ext cx="4405461" cy="239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9"/>
              </a:lnSpc>
            </a:pPr>
            <a:r>
              <a:rPr lang="en-US" sz="2999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Hơn 12 bảng chính</a:t>
            </a:r>
          </a:p>
          <a:p>
            <a:pPr algn="just">
              <a:lnSpc>
                <a:spcPts val="4859"/>
              </a:lnSpc>
            </a:pPr>
            <a:r>
              <a:rPr lang="en-US" sz="2999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Hệ thống có ERD và hỗ trợ đầy đủ ràng buộc khóa ngoại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185841" y="1818511"/>
            <a:ext cx="19957061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Freeform 3"/>
          <p:cNvSpPr/>
          <p:nvPr/>
        </p:nvSpPr>
        <p:spPr>
          <a:xfrm>
            <a:off x="2290908" y="2105076"/>
            <a:ext cx="13706184" cy="7800022"/>
          </a:xfrm>
          <a:custGeom>
            <a:avLst/>
            <a:gdLst/>
            <a:ahLst/>
            <a:cxnLst/>
            <a:rect l="l" t="t" r="r" b="b"/>
            <a:pathLst>
              <a:path w="13706184" h="7800022">
                <a:moveTo>
                  <a:pt x="0" y="0"/>
                </a:moveTo>
                <a:lnTo>
                  <a:pt x="13706184" y="0"/>
                </a:lnTo>
                <a:lnTo>
                  <a:pt x="13706184" y="7800022"/>
                </a:lnTo>
                <a:lnTo>
                  <a:pt x="0" y="7800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1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926669" y="334305"/>
            <a:ext cx="12434662" cy="1213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50"/>
              </a:lnSpc>
            </a:pPr>
            <a:r>
              <a:rPr lang="en-US" sz="9150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Triển khai hệ thống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04611" y="5469724"/>
            <a:ext cx="16230600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04611" y="6418058"/>
            <a:ext cx="16230600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04611" y="7366393"/>
            <a:ext cx="16230600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04611" y="8314728"/>
            <a:ext cx="16230600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28700" y="9248775"/>
            <a:ext cx="16230600" cy="0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-161297" y="0"/>
            <a:ext cx="18610595" cy="3623479"/>
          </a:xfrm>
          <a:prstGeom prst="rect">
            <a:avLst/>
          </a:prstGeom>
          <a:solidFill>
            <a:srgbClr val="256DBC"/>
          </a:solidFill>
        </p:spPr>
      </p:sp>
      <p:grpSp>
        <p:nvGrpSpPr>
          <p:cNvPr id="8" name="Group 8"/>
          <p:cNvGrpSpPr/>
          <p:nvPr/>
        </p:nvGrpSpPr>
        <p:grpSpPr>
          <a:xfrm>
            <a:off x="2399950" y="770764"/>
            <a:ext cx="13488099" cy="2079412"/>
            <a:chOff x="0" y="0"/>
            <a:chExt cx="17984132" cy="2772549"/>
          </a:xfrm>
        </p:grpSpPr>
        <p:sp>
          <p:nvSpPr>
            <p:cNvPr id="9" name="TextBox 9"/>
            <p:cNvSpPr txBox="1"/>
            <p:nvPr/>
          </p:nvSpPr>
          <p:spPr>
            <a:xfrm>
              <a:off x="35540" y="-9525"/>
              <a:ext cx="17948592" cy="183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r>
                <a:rPr lang="en-US" sz="9000" b="1">
                  <a:solidFill>
                    <a:srgbClr val="FFFFFF"/>
                  </a:solidFill>
                  <a:latin typeface="Be Vietnam Medium"/>
                  <a:ea typeface="Be Vietnam Medium"/>
                  <a:cs typeface="Be Vietnam Medium"/>
                  <a:sym typeface="Be Vietnam Medium"/>
                </a:rPr>
                <a:t>Cấu trúc chương trình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103048"/>
              <a:ext cx="17984132" cy="6144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0"/>
                </a:lnSpc>
                <a:spcBef>
                  <a:spcPct val="0"/>
                </a:spcBef>
              </a:pPr>
              <a:r>
                <a:rPr lang="en-US" sz="2900" b="1">
                  <a:solidFill>
                    <a:srgbClr val="FFFFFF"/>
                  </a:solidFill>
                  <a:latin typeface="Be Vietnam Medium"/>
                  <a:ea typeface="Be Vietnam Medium"/>
                  <a:cs typeface="Be Vietnam Medium"/>
                  <a:sym typeface="Be Vietnam Medium"/>
                </a:rPr>
                <a:t>Theo chuẩn Laravel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4496824"/>
            <a:ext cx="2850186" cy="43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7"/>
              </a:lnSpc>
            </a:pPr>
            <a:r>
              <a:rPr lang="en-US" sz="3125" b="1">
                <a:solidFill>
                  <a:srgbClr val="191919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Thư mục/Tệp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13840" y="4496824"/>
            <a:ext cx="2289668" cy="43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7"/>
              </a:lnSpc>
            </a:pPr>
            <a:r>
              <a:rPr lang="en-US" sz="3125" b="1">
                <a:solidFill>
                  <a:srgbClr val="191919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Mô tả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430270" y="5474486"/>
            <a:ext cx="0" cy="3779051"/>
          </a:xfrm>
          <a:prstGeom prst="line">
            <a:avLst/>
          </a:prstGeom>
          <a:ln w="9525" cap="rnd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028700" y="5712574"/>
            <a:ext cx="2171698" cy="422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/app/Models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13840" y="5519393"/>
            <a:ext cx="9521371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Chứa các lớp model đại diện cho bảng trong CSDL, ví dụ: taikhoan, mau_khaosat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699" y="6665372"/>
            <a:ext cx="3543299" cy="422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/app/Http/Controllers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13840" y="6472529"/>
            <a:ext cx="9521371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Chứa các controller xử lý nghiệp vụ như: AuthController, KhaosatController, MauKhaoSatController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7628293"/>
            <a:ext cx="2705099" cy="422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Resources/view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13840" y="7604518"/>
            <a:ext cx="952137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Chứa các file giao diện .blade.php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8562379"/>
            <a:ext cx="2705096" cy="422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Routes/web.php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13840" y="8552516"/>
            <a:ext cx="9521371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Khai báo các route phục vụ điều hướng người dùng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16021"/>
            <a:ext cx="5162513" cy="3634448"/>
            <a:chOff x="0" y="0"/>
            <a:chExt cx="1746332" cy="12294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6332" cy="1229431"/>
            </a:xfrm>
            <a:custGeom>
              <a:avLst/>
              <a:gdLst/>
              <a:ahLst/>
              <a:cxnLst/>
              <a:rect l="l" t="t" r="r" b="b"/>
              <a:pathLst>
                <a:path w="1746332" h="1229431">
                  <a:moveTo>
                    <a:pt x="1621872" y="1229431"/>
                  </a:moveTo>
                  <a:lnTo>
                    <a:pt x="124460" y="1229431"/>
                  </a:lnTo>
                  <a:cubicBezTo>
                    <a:pt x="55880" y="1229431"/>
                    <a:pt x="0" y="1173551"/>
                    <a:pt x="0" y="110497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21872" y="0"/>
                  </a:lnTo>
                  <a:cubicBezTo>
                    <a:pt x="1690452" y="0"/>
                    <a:pt x="1746332" y="55880"/>
                    <a:pt x="1746332" y="124460"/>
                  </a:cubicBezTo>
                  <a:lnTo>
                    <a:pt x="1746332" y="1104971"/>
                  </a:lnTo>
                  <a:cubicBezTo>
                    <a:pt x="1746332" y="1173551"/>
                    <a:pt x="1690452" y="1229431"/>
                    <a:pt x="1621872" y="12294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562743" y="4116021"/>
            <a:ext cx="5162513" cy="3634448"/>
            <a:chOff x="0" y="0"/>
            <a:chExt cx="1746332" cy="12294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332" cy="1229431"/>
            </a:xfrm>
            <a:custGeom>
              <a:avLst/>
              <a:gdLst/>
              <a:ahLst/>
              <a:cxnLst/>
              <a:rect l="l" t="t" r="r" b="b"/>
              <a:pathLst>
                <a:path w="1746332" h="1229431">
                  <a:moveTo>
                    <a:pt x="1621872" y="1229431"/>
                  </a:moveTo>
                  <a:lnTo>
                    <a:pt x="124460" y="1229431"/>
                  </a:lnTo>
                  <a:cubicBezTo>
                    <a:pt x="55880" y="1229431"/>
                    <a:pt x="0" y="1173551"/>
                    <a:pt x="0" y="110497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21872" y="0"/>
                  </a:lnTo>
                  <a:cubicBezTo>
                    <a:pt x="1690452" y="0"/>
                    <a:pt x="1746332" y="55880"/>
                    <a:pt x="1746332" y="124460"/>
                  </a:cubicBezTo>
                  <a:lnTo>
                    <a:pt x="1746332" y="1104971"/>
                  </a:lnTo>
                  <a:cubicBezTo>
                    <a:pt x="1746332" y="1173551"/>
                    <a:pt x="1690452" y="1229431"/>
                    <a:pt x="1621872" y="12294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096787" y="4116021"/>
            <a:ext cx="5162513" cy="3634448"/>
            <a:chOff x="0" y="0"/>
            <a:chExt cx="1746332" cy="12294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46332" cy="1229431"/>
            </a:xfrm>
            <a:custGeom>
              <a:avLst/>
              <a:gdLst/>
              <a:ahLst/>
              <a:cxnLst/>
              <a:rect l="l" t="t" r="r" b="b"/>
              <a:pathLst>
                <a:path w="1746332" h="1229431">
                  <a:moveTo>
                    <a:pt x="1621872" y="1229431"/>
                  </a:moveTo>
                  <a:lnTo>
                    <a:pt x="124460" y="1229431"/>
                  </a:lnTo>
                  <a:cubicBezTo>
                    <a:pt x="55880" y="1229431"/>
                    <a:pt x="0" y="1173551"/>
                    <a:pt x="0" y="110497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21872" y="0"/>
                  </a:lnTo>
                  <a:cubicBezTo>
                    <a:pt x="1690452" y="0"/>
                    <a:pt x="1746332" y="55880"/>
                    <a:pt x="1746332" y="124460"/>
                  </a:cubicBezTo>
                  <a:lnTo>
                    <a:pt x="1746332" y="1104971"/>
                  </a:lnTo>
                  <a:cubicBezTo>
                    <a:pt x="1746332" y="1173551"/>
                    <a:pt x="1690452" y="1229431"/>
                    <a:pt x="1621872" y="12294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1028700"/>
            <a:ext cx="16230600" cy="1351092"/>
            <a:chOff x="0" y="0"/>
            <a:chExt cx="21640800" cy="1801456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1640800" cy="1801456"/>
              <a:chOff x="0" y="0"/>
              <a:chExt cx="10389482" cy="87021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389482" cy="870213"/>
              </a:xfrm>
              <a:custGeom>
                <a:avLst/>
                <a:gdLst/>
                <a:ahLst/>
                <a:cxnLst/>
                <a:rect l="l" t="t" r="r" b="b"/>
                <a:pathLst>
                  <a:path w="10389482" h="870213">
                    <a:moveTo>
                      <a:pt x="10265022" y="870213"/>
                    </a:moveTo>
                    <a:lnTo>
                      <a:pt x="124460" y="870213"/>
                    </a:lnTo>
                    <a:cubicBezTo>
                      <a:pt x="55880" y="870213"/>
                      <a:pt x="0" y="814333"/>
                      <a:pt x="0" y="745753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0265022" y="0"/>
                    </a:lnTo>
                    <a:cubicBezTo>
                      <a:pt x="10333603" y="0"/>
                      <a:pt x="10389482" y="55880"/>
                      <a:pt x="10389482" y="124460"/>
                    </a:cubicBezTo>
                    <a:lnTo>
                      <a:pt x="10389482" y="745753"/>
                    </a:lnTo>
                    <a:cubicBezTo>
                      <a:pt x="10389482" y="814333"/>
                      <a:pt x="10333603" y="870213"/>
                      <a:pt x="10265022" y="870213"/>
                    </a:cubicBezTo>
                    <a:close/>
                  </a:path>
                </a:pathLst>
              </a:custGeom>
              <a:solidFill>
                <a:srgbClr val="0288D0"/>
              </a:solidFill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17533" y="462152"/>
              <a:ext cx="12949379" cy="8703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29"/>
                </a:lnSpc>
              </a:pPr>
              <a:r>
                <a:rPr lang="en-US" sz="4099" b="1" spc="40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HỆ THỐNG SỬ DỤNG CÁC CÔNG NGHỆ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98856" y="5432314"/>
            <a:ext cx="3822200" cy="1662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6276" lvl="1" indent="-343138" algn="l">
              <a:lnSpc>
                <a:spcPts val="4450"/>
              </a:lnSpc>
              <a:buFont typeface="Arial"/>
              <a:buChar char="•"/>
            </a:pPr>
            <a:r>
              <a:rPr lang="en-US" sz="3178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Laravel 12x</a:t>
            </a:r>
          </a:p>
          <a:p>
            <a:pPr marL="686276" lvl="1" indent="-343138" algn="l">
              <a:lnSpc>
                <a:spcPts val="4450"/>
              </a:lnSpc>
              <a:buFont typeface="Arial"/>
              <a:buChar char="•"/>
            </a:pPr>
            <a:r>
              <a:rPr lang="en-US" sz="3178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PHP 8.1</a:t>
            </a:r>
          </a:p>
          <a:p>
            <a:pPr marL="686276" lvl="1" indent="-343138" algn="l">
              <a:lnSpc>
                <a:spcPts val="4450"/>
              </a:lnSpc>
              <a:buFont typeface="Arial"/>
              <a:buChar char="•"/>
            </a:pPr>
            <a:r>
              <a:rPr lang="en-US" sz="3178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MySQL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00526" y="5432314"/>
            <a:ext cx="3822200" cy="1662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6276" lvl="1" indent="-343138" algn="l">
              <a:lnSpc>
                <a:spcPts val="4450"/>
              </a:lnSpc>
              <a:buFont typeface="Arial"/>
              <a:buChar char="•"/>
            </a:pPr>
            <a:r>
              <a:rPr lang="en-US" sz="3178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Blade template</a:t>
            </a:r>
          </a:p>
          <a:p>
            <a:pPr marL="686276" lvl="1" indent="-343138" algn="l">
              <a:lnSpc>
                <a:spcPts val="4450"/>
              </a:lnSpc>
              <a:buFont typeface="Arial"/>
              <a:buChar char="•"/>
            </a:pPr>
            <a:r>
              <a:rPr lang="en-US" sz="3178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Bootstrap 5</a:t>
            </a:r>
          </a:p>
          <a:p>
            <a:pPr marL="686276" lvl="1" indent="-343138" algn="l">
              <a:lnSpc>
                <a:spcPts val="4450"/>
              </a:lnSpc>
              <a:buFont typeface="Arial"/>
              <a:buChar char="•"/>
            </a:pPr>
            <a:r>
              <a:rPr lang="en-US" sz="3178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Chart.js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63016" y="5401895"/>
            <a:ext cx="4562349" cy="161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463" lvl="1" indent="-332732" algn="l">
              <a:lnSpc>
                <a:spcPts val="4315"/>
              </a:lnSpc>
              <a:buFont typeface="Arial"/>
              <a:buChar char="•"/>
            </a:pPr>
            <a:r>
              <a:rPr lang="en-US" sz="3082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Laravel excel</a:t>
            </a:r>
          </a:p>
          <a:p>
            <a:pPr marL="665463" lvl="1" indent="-332732" algn="l">
              <a:lnSpc>
                <a:spcPts val="4315"/>
              </a:lnSpc>
              <a:buFont typeface="Arial"/>
              <a:buChar char="•"/>
            </a:pPr>
            <a:r>
              <a:rPr lang="en-US" sz="3082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DOMPDF</a:t>
            </a:r>
          </a:p>
          <a:p>
            <a:pPr marL="665463" lvl="1" indent="-332731" algn="l">
              <a:lnSpc>
                <a:spcPts val="4315"/>
              </a:lnSpc>
              <a:buFont typeface="Arial"/>
              <a:buChar char="•"/>
            </a:pPr>
            <a:r>
              <a:rPr lang="en-US" sz="3082">
                <a:solidFill>
                  <a:srgbClr val="191919"/>
                </a:solidFill>
                <a:latin typeface="Muli"/>
                <a:ea typeface="Muli"/>
                <a:cs typeface="Muli"/>
                <a:sym typeface="Muli"/>
              </a:rPr>
              <a:t>Google reCAPTCHA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78651" y="4400721"/>
            <a:ext cx="2784049" cy="82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5"/>
              </a:lnSpc>
              <a:spcBef>
                <a:spcPct val="0"/>
              </a:spcBef>
            </a:pPr>
            <a:r>
              <a:rPr lang="en-US" sz="4832" b="1">
                <a:solidFill>
                  <a:srgbClr val="191919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Backend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00526" y="4400721"/>
            <a:ext cx="2784048" cy="82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5"/>
              </a:lnSpc>
              <a:spcBef>
                <a:spcPct val="0"/>
              </a:spcBef>
            </a:pPr>
            <a:r>
              <a:rPr lang="en-US" sz="4832" b="1">
                <a:solidFill>
                  <a:srgbClr val="191919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Frontend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63016" y="4410246"/>
            <a:ext cx="2699616" cy="79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  <a:spcBef>
                <a:spcPct val="0"/>
              </a:spcBef>
            </a:pPr>
            <a:r>
              <a:rPr lang="en-US" sz="4685" b="1">
                <a:solidFill>
                  <a:srgbClr val="191919"/>
                </a:solidFill>
                <a:latin typeface="Be Vietnam Medium"/>
                <a:ea typeface="Be Vietnam Medium"/>
                <a:cs typeface="Be Vietnam Medium"/>
                <a:sym typeface="Be Vietnam Medium"/>
              </a:rPr>
              <a:t>Thư viện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819900" cy="10287000"/>
          </a:xfrm>
          <a:prstGeom prst="rect">
            <a:avLst/>
          </a:prstGeom>
          <a:solidFill>
            <a:srgbClr val="052896"/>
          </a:solidFill>
        </p:spPr>
      </p:sp>
      <p:sp>
        <p:nvSpPr>
          <p:cNvPr id="3" name="TextBox 3"/>
          <p:cNvSpPr txBox="1"/>
          <p:nvPr/>
        </p:nvSpPr>
        <p:spPr>
          <a:xfrm>
            <a:off x="1028700" y="739756"/>
            <a:ext cx="3214809" cy="880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53"/>
              </a:lnSpc>
              <a:spcBef>
                <a:spcPct val="0"/>
              </a:spcBef>
            </a:pPr>
            <a:r>
              <a:rPr lang="en-US" sz="9627" b="1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Các chức năng đã triển khai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171210" y="739756"/>
            <a:ext cx="10323164" cy="568885"/>
            <a:chOff x="0" y="0"/>
            <a:chExt cx="13764219" cy="75851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237256"/>
              <a:ext cx="278587" cy="278587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809372" y="-47625"/>
              <a:ext cx="12954847" cy="806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97"/>
                </a:lnSpc>
                <a:spcBef>
                  <a:spcPct val="0"/>
                </a:spcBef>
              </a:pPr>
              <a:r>
                <a:rPr lang="en-US" sz="3767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Tạo biểu mẫu khảo sát(Nhiều loại câu hỏi)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71210" y="1775366"/>
            <a:ext cx="10223643" cy="540489"/>
            <a:chOff x="0" y="0"/>
            <a:chExt cx="13631524" cy="720652"/>
          </a:xfrm>
        </p:grpSpPr>
        <p:sp>
          <p:nvSpPr>
            <p:cNvPr id="9" name="TextBox 9"/>
            <p:cNvSpPr txBox="1"/>
            <p:nvPr/>
          </p:nvSpPr>
          <p:spPr>
            <a:xfrm>
              <a:off x="809372" y="-47625"/>
              <a:ext cx="12822152" cy="768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52"/>
                </a:lnSpc>
                <a:spcBef>
                  <a:spcPct val="0"/>
                </a:spcBef>
              </a:pPr>
              <a:r>
                <a:rPr lang="en-US" sz="3579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Quản lý mẫu khảo sát - câu hỏi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227985"/>
              <a:ext cx="276318" cy="264681"/>
              <a:chOff x="0" y="0"/>
              <a:chExt cx="6629179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629179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629179" h="6350000">
                    <a:moveTo>
                      <a:pt x="3314590" y="0"/>
                    </a:moveTo>
                    <a:cubicBezTo>
                      <a:pt x="1483992" y="0"/>
                      <a:pt x="0" y="1421496"/>
                      <a:pt x="0" y="3175000"/>
                    </a:cubicBezTo>
                    <a:cubicBezTo>
                      <a:pt x="0" y="4928504"/>
                      <a:pt x="1483992" y="6350000"/>
                      <a:pt x="3314590" y="6350000"/>
                    </a:cubicBezTo>
                    <a:cubicBezTo>
                      <a:pt x="5145187" y="6350000"/>
                      <a:pt x="6629179" y="4928504"/>
                      <a:pt x="6629179" y="3175000"/>
                    </a:cubicBezTo>
                    <a:cubicBezTo>
                      <a:pt x="6629179" y="1421496"/>
                      <a:pt x="5145187" y="0"/>
                      <a:pt x="331459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</p:grpSp>
      <p:grpSp>
        <p:nvGrpSpPr>
          <p:cNvPr id="12" name="Group 12"/>
          <p:cNvGrpSpPr/>
          <p:nvPr/>
        </p:nvGrpSpPr>
        <p:grpSpPr>
          <a:xfrm>
            <a:off x="7166225" y="6811435"/>
            <a:ext cx="10328149" cy="530901"/>
            <a:chOff x="0" y="0"/>
            <a:chExt cx="13770865" cy="707868"/>
          </a:xfrm>
        </p:grpSpPr>
        <p:sp>
          <p:nvSpPr>
            <p:cNvPr id="13" name="TextBox 13"/>
            <p:cNvSpPr txBox="1"/>
            <p:nvPr/>
          </p:nvSpPr>
          <p:spPr>
            <a:xfrm>
              <a:off x="749496" y="-47625"/>
              <a:ext cx="13021369" cy="755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43"/>
                </a:lnSpc>
                <a:spcBef>
                  <a:spcPct val="0"/>
                </a:spcBef>
              </a:pPr>
              <a:r>
                <a:rPr lang="en-US" sz="3495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Báo cáo kết quả bằng biểu đồ và file PDF/Excel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0" y="227985"/>
              <a:ext cx="255876" cy="264681"/>
              <a:chOff x="0" y="0"/>
              <a:chExt cx="6138764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138764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138764" h="6350000">
                    <a:moveTo>
                      <a:pt x="3069382" y="0"/>
                    </a:moveTo>
                    <a:cubicBezTo>
                      <a:pt x="1374209" y="0"/>
                      <a:pt x="0" y="1421496"/>
                      <a:pt x="0" y="3175000"/>
                    </a:cubicBezTo>
                    <a:cubicBezTo>
                      <a:pt x="0" y="4928504"/>
                      <a:pt x="1374209" y="6350000"/>
                      <a:pt x="3069382" y="6350000"/>
                    </a:cubicBezTo>
                    <a:cubicBezTo>
                      <a:pt x="4764555" y="6350000"/>
                      <a:pt x="6138764" y="4928504"/>
                      <a:pt x="6138764" y="3175000"/>
                    </a:cubicBezTo>
                    <a:cubicBezTo>
                      <a:pt x="6138764" y="1421496"/>
                      <a:pt x="4764555" y="0"/>
                      <a:pt x="3069382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7166225" y="7811091"/>
            <a:ext cx="10208969" cy="540489"/>
            <a:chOff x="0" y="0"/>
            <a:chExt cx="13611959" cy="720652"/>
          </a:xfrm>
        </p:grpSpPr>
        <p:sp>
          <p:nvSpPr>
            <p:cNvPr id="17" name="TextBox 17"/>
            <p:cNvSpPr txBox="1"/>
            <p:nvPr/>
          </p:nvSpPr>
          <p:spPr>
            <a:xfrm>
              <a:off x="809372" y="-47625"/>
              <a:ext cx="12802587" cy="768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52"/>
                </a:lnSpc>
                <a:spcBef>
                  <a:spcPct val="0"/>
                </a:spcBef>
              </a:pPr>
              <a:r>
                <a:rPr lang="en-US" sz="3579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Quản lý nhật ký thao tác người dùng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227985"/>
              <a:ext cx="282016" cy="264681"/>
              <a:chOff x="0" y="0"/>
              <a:chExt cx="6765896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765896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765896" h="6350000">
                    <a:moveTo>
                      <a:pt x="3382948" y="0"/>
                    </a:moveTo>
                    <a:cubicBezTo>
                      <a:pt x="1514597" y="0"/>
                      <a:pt x="0" y="1421496"/>
                      <a:pt x="0" y="3175000"/>
                    </a:cubicBezTo>
                    <a:cubicBezTo>
                      <a:pt x="0" y="4928504"/>
                      <a:pt x="1514597" y="6350000"/>
                      <a:pt x="3382948" y="6350000"/>
                    </a:cubicBezTo>
                    <a:cubicBezTo>
                      <a:pt x="5251298" y="6350000"/>
                      <a:pt x="6765896" y="4928504"/>
                      <a:pt x="6765896" y="3175000"/>
                    </a:cubicBezTo>
                    <a:cubicBezTo>
                      <a:pt x="6765896" y="1421496"/>
                      <a:pt x="5251298" y="0"/>
                      <a:pt x="3382948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</p:grpSp>
      <p:grpSp>
        <p:nvGrpSpPr>
          <p:cNvPr id="20" name="Group 20"/>
          <p:cNvGrpSpPr/>
          <p:nvPr/>
        </p:nvGrpSpPr>
        <p:grpSpPr>
          <a:xfrm>
            <a:off x="7166225" y="8820335"/>
            <a:ext cx="10328149" cy="540489"/>
            <a:chOff x="0" y="0"/>
            <a:chExt cx="13770865" cy="720652"/>
          </a:xfrm>
        </p:grpSpPr>
        <p:sp>
          <p:nvSpPr>
            <p:cNvPr id="21" name="TextBox 21"/>
            <p:cNvSpPr txBox="1"/>
            <p:nvPr/>
          </p:nvSpPr>
          <p:spPr>
            <a:xfrm>
              <a:off x="809372" y="-47625"/>
              <a:ext cx="12961493" cy="768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52"/>
                </a:lnSpc>
                <a:spcBef>
                  <a:spcPct val="0"/>
                </a:spcBef>
              </a:pPr>
              <a:r>
                <a:rPr lang="en-US" sz="3579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Tích hợp AI Chatbot hỗ trợ trả lời FAQ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227985"/>
              <a:ext cx="276318" cy="264681"/>
              <a:chOff x="0" y="0"/>
              <a:chExt cx="6629179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629179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629179" h="6350000">
                    <a:moveTo>
                      <a:pt x="3314590" y="0"/>
                    </a:moveTo>
                    <a:cubicBezTo>
                      <a:pt x="1483992" y="0"/>
                      <a:pt x="0" y="1421496"/>
                      <a:pt x="0" y="3175000"/>
                    </a:cubicBezTo>
                    <a:cubicBezTo>
                      <a:pt x="0" y="4928504"/>
                      <a:pt x="1483992" y="6350000"/>
                      <a:pt x="3314590" y="6350000"/>
                    </a:cubicBezTo>
                    <a:cubicBezTo>
                      <a:pt x="5145187" y="6350000"/>
                      <a:pt x="6629179" y="4928504"/>
                      <a:pt x="6629179" y="3175000"/>
                    </a:cubicBezTo>
                    <a:cubicBezTo>
                      <a:pt x="6629179" y="1421496"/>
                      <a:pt x="5145187" y="0"/>
                      <a:pt x="331459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</p:grpSp>
      <p:grpSp>
        <p:nvGrpSpPr>
          <p:cNvPr id="24" name="Group 24"/>
          <p:cNvGrpSpPr/>
          <p:nvPr/>
        </p:nvGrpSpPr>
        <p:grpSpPr>
          <a:xfrm>
            <a:off x="7171210" y="2782580"/>
            <a:ext cx="10223643" cy="540489"/>
            <a:chOff x="0" y="0"/>
            <a:chExt cx="13631524" cy="720652"/>
          </a:xfrm>
        </p:grpSpPr>
        <p:sp>
          <p:nvSpPr>
            <p:cNvPr id="25" name="TextBox 25"/>
            <p:cNvSpPr txBox="1"/>
            <p:nvPr/>
          </p:nvSpPr>
          <p:spPr>
            <a:xfrm>
              <a:off x="809372" y="-47625"/>
              <a:ext cx="12822152" cy="768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52"/>
                </a:lnSpc>
                <a:spcBef>
                  <a:spcPct val="0"/>
                </a:spcBef>
              </a:pPr>
              <a:r>
                <a:rPr lang="en-US" sz="3579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Quản lý đợt khảo sát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227985"/>
              <a:ext cx="276318" cy="264681"/>
              <a:chOff x="0" y="0"/>
              <a:chExt cx="6629179" cy="6350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629179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629179" h="6350000">
                    <a:moveTo>
                      <a:pt x="3314590" y="0"/>
                    </a:moveTo>
                    <a:cubicBezTo>
                      <a:pt x="1483992" y="0"/>
                      <a:pt x="0" y="1421496"/>
                      <a:pt x="0" y="3175000"/>
                    </a:cubicBezTo>
                    <a:cubicBezTo>
                      <a:pt x="0" y="4928504"/>
                      <a:pt x="1483992" y="6350000"/>
                      <a:pt x="3314590" y="6350000"/>
                    </a:cubicBezTo>
                    <a:cubicBezTo>
                      <a:pt x="5145187" y="6350000"/>
                      <a:pt x="6629179" y="4928504"/>
                      <a:pt x="6629179" y="3175000"/>
                    </a:cubicBezTo>
                    <a:cubicBezTo>
                      <a:pt x="6629179" y="1421496"/>
                      <a:pt x="5145187" y="0"/>
                      <a:pt x="331459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</p:grpSp>
      <p:grpSp>
        <p:nvGrpSpPr>
          <p:cNvPr id="28" name="Group 28"/>
          <p:cNvGrpSpPr/>
          <p:nvPr/>
        </p:nvGrpSpPr>
        <p:grpSpPr>
          <a:xfrm>
            <a:off x="7171210" y="3789794"/>
            <a:ext cx="10223643" cy="540489"/>
            <a:chOff x="0" y="0"/>
            <a:chExt cx="13631524" cy="720652"/>
          </a:xfrm>
        </p:grpSpPr>
        <p:sp>
          <p:nvSpPr>
            <p:cNvPr id="29" name="TextBox 29"/>
            <p:cNvSpPr txBox="1"/>
            <p:nvPr/>
          </p:nvSpPr>
          <p:spPr>
            <a:xfrm>
              <a:off x="809372" y="-47625"/>
              <a:ext cx="12822152" cy="768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52"/>
                </a:lnSpc>
                <a:spcBef>
                  <a:spcPct val="0"/>
                </a:spcBef>
              </a:pPr>
              <a:r>
                <a:rPr lang="en-US" sz="3579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Thống kê theo dạng biểu đồ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0" y="227985"/>
              <a:ext cx="276318" cy="264681"/>
              <a:chOff x="0" y="0"/>
              <a:chExt cx="6629179" cy="6350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629179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629179" h="6350000">
                    <a:moveTo>
                      <a:pt x="3314590" y="0"/>
                    </a:moveTo>
                    <a:cubicBezTo>
                      <a:pt x="1483992" y="0"/>
                      <a:pt x="0" y="1421496"/>
                      <a:pt x="0" y="3175000"/>
                    </a:cubicBezTo>
                    <a:cubicBezTo>
                      <a:pt x="0" y="4928504"/>
                      <a:pt x="1483992" y="6350000"/>
                      <a:pt x="3314590" y="6350000"/>
                    </a:cubicBezTo>
                    <a:cubicBezTo>
                      <a:pt x="5145187" y="6350000"/>
                      <a:pt x="6629179" y="4928504"/>
                      <a:pt x="6629179" y="3175000"/>
                    </a:cubicBezTo>
                    <a:cubicBezTo>
                      <a:pt x="6629179" y="1421496"/>
                      <a:pt x="5145187" y="0"/>
                      <a:pt x="331459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</p:grpSp>
      <p:grpSp>
        <p:nvGrpSpPr>
          <p:cNvPr id="32" name="Group 32"/>
          <p:cNvGrpSpPr/>
          <p:nvPr/>
        </p:nvGrpSpPr>
        <p:grpSpPr>
          <a:xfrm>
            <a:off x="7171210" y="4797008"/>
            <a:ext cx="10223643" cy="540489"/>
            <a:chOff x="0" y="0"/>
            <a:chExt cx="13631524" cy="720652"/>
          </a:xfrm>
        </p:grpSpPr>
        <p:sp>
          <p:nvSpPr>
            <p:cNvPr id="33" name="TextBox 33"/>
            <p:cNvSpPr txBox="1"/>
            <p:nvPr/>
          </p:nvSpPr>
          <p:spPr>
            <a:xfrm>
              <a:off x="809372" y="-47625"/>
              <a:ext cx="12822152" cy="768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52"/>
                </a:lnSpc>
                <a:spcBef>
                  <a:spcPct val="0"/>
                </a:spcBef>
              </a:pPr>
              <a:r>
                <a:rPr lang="en-US" sz="3579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Sao lưu cơ sở dữ liệu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0" y="227985"/>
              <a:ext cx="276318" cy="264681"/>
              <a:chOff x="0" y="0"/>
              <a:chExt cx="6629179" cy="6350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629179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629179" h="6350000">
                    <a:moveTo>
                      <a:pt x="3314590" y="0"/>
                    </a:moveTo>
                    <a:cubicBezTo>
                      <a:pt x="1483992" y="0"/>
                      <a:pt x="0" y="1421496"/>
                      <a:pt x="0" y="3175000"/>
                    </a:cubicBezTo>
                    <a:cubicBezTo>
                      <a:pt x="0" y="4928504"/>
                      <a:pt x="1483992" y="6350000"/>
                      <a:pt x="3314590" y="6350000"/>
                    </a:cubicBezTo>
                    <a:cubicBezTo>
                      <a:pt x="5145187" y="6350000"/>
                      <a:pt x="6629179" y="4928504"/>
                      <a:pt x="6629179" y="3175000"/>
                    </a:cubicBezTo>
                    <a:cubicBezTo>
                      <a:pt x="6629179" y="1421496"/>
                      <a:pt x="5145187" y="0"/>
                      <a:pt x="331459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</p:grpSp>
      <p:grpSp>
        <p:nvGrpSpPr>
          <p:cNvPr id="36" name="Group 36"/>
          <p:cNvGrpSpPr/>
          <p:nvPr/>
        </p:nvGrpSpPr>
        <p:grpSpPr>
          <a:xfrm>
            <a:off x="7171210" y="5804221"/>
            <a:ext cx="10223643" cy="540489"/>
            <a:chOff x="0" y="0"/>
            <a:chExt cx="13631524" cy="720652"/>
          </a:xfrm>
        </p:grpSpPr>
        <p:sp>
          <p:nvSpPr>
            <p:cNvPr id="37" name="TextBox 37"/>
            <p:cNvSpPr txBox="1"/>
            <p:nvPr/>
          </p:nvSpPr>
          <p:spPr>
            <a:xfrm>
              <a:off x="809372" y="-47625"/>
              <a:ext cx="12822152" cy="768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52"/>
                </a:lnSpc>
                <a:spcBef>
                  <a:spcPct val="0"/>
                </a:spcBef>
              </a:pPr>
              <a:r>
                <a:rPr lang="en-US" sz="3579">
                  <a:solidFill>
                    <a:srgbClr val="19191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Tính toán và đánh dấu phiếu trùng lặp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0" y="227985"/>
              <a:ext cx="276318" cy="264681"/>
              <a:chOff x="0" y="0"/>
              <a:chExt cx="6629179" cy="6350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629179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629179" h="6350000">
                    <a:moveTo>
                      <a:pt x="3314590" y="0"/>
                    </a:moveTo>
                    <a:cubicBezTo>
                      <a:pt x="1483992" y="0"/>
                      <a:pt x="0" y="1421496"/>
                      <a:pt x="0" y="3175000"/>
                    </a:cubicBezTo>
                    <a:cubicBezTo>
                      <a:pt x="0" y="4928504"/>
                      <a:pt x="1483992" y="6350000"/>
                      <a:pt x="3314590" y="6350000"/>
                    </a:cubicBezTo>
                    <a:cubicBezTo>
                      <a:pt x="5145187" y="6350000"/>
                      <a:pt x="6629179" y="4928504"/>
                      <a:pt x="6629179" y="3175000"/>
                    </a:cubicBezTo>
                    <a:cubicBezTo>
                      <a:pt x="6629179" y="1421496"/>
                      <a:pt x="5145187" y="0"/>
                      <a:pt x="3314590" y="0"/>
                    </a:cubicBezTo>
                    <a:close/>
                  </a:path>
                </a:pathLst>
              </a:custGeom>
              <a:solidFill>
                <a:srgbClr val="EA4B33"/>
              </a:solidFill>
            </p:spPr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699" y="1019175"/>
            <a:ext cx="13401585" cy="1714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39"/>
              </a:lnSpc>
              <a:spcBef>
                <a:spcPct val="0"/>
              </a:spcBef>
            </a:pPr>
            <a:r>
              <a:rPr lang="en-US" sz="111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Kết quả đạt được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31079" y="3690994"/>
            <a:ext cx="10769078" cy="50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Hệ thống đã chạy ổn định trong các đợt khảo sát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3445376"/>
            <a:ext cx="1365401" cy="988119"/>
          </a:xfrm>
          <a:custGeom>
            <a:avLst/>
            <a:gdLst/>
            <a:ahLst/>
            <a:cxnLst/>
            <a:rect l="l" t="t" r="r" b="b"/>
            <a:pathLst>
              <a:path w="1365401" h="988119">
                <a:moveTo>
                  <a:pt x="0" y="0"/>
                </a:moveTo>
                <a:lnTo>
                  <a:pt x="1365401" y="0"/>
                </a:lnTo>
                <a:lnTo>
                  <a:pt x="1365401" y="988119"/>
                </a:lnTo>
                <a:lnTo>
                  <a:pt x="0" y="988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82492" y="3699484"/>
            <a:ext cx="857817" cy="5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20"/>
              </a:lnSpc>
              <a:spcBef>
                <a:spcPct val="0"/>
              </a:spcBef>
            </a:pPr>
            <a:r>
              <a:rPr lang="en-US" sz="332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31079" y="5216157"/>
            <a:ext cx="10769078" cy="50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Đáp ứng tốt yêu cầu khảo sát trong trường học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4970539"/>
            <a:ext cx="1365401" cy="988119"/>
          </a:xfrm>
          <a:custGeom>
            <a:avLst/>
            <a:gdLst/>
            <a:ahLst/>
            <a:cxnLst/>
            <a:rect l="l" t="t" r="r" b="b"/>
            <a:pathLst>
              <a:path w="1365401" h="988119">
                <a:moveTo>
                  <a:pt x="0" y="0"/>
                </a:moveTo>
                <a:lnTo>
                  <a:pt x="1365401" y="0"/>
                </a:lnTo>
                <a:lnTo>
                  <a:pt x="1365401" y="988119"/>
                </a:lnTo>
                <a:lnTo>
                  <a:pt x="0" y="988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82492" y="5224647"/>
            <a:ext cx="857817" cy="5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20"/>
              </a:lnSpc>
              <a:spcBef>
                <a:spcPct val="0"/>
              </a:spcBef>
            </a:pPr>
            <a:r>
              <a:rPr lang="en-US" sz="332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31079" y="6741320"/>
            <a:ext cx="10769078" cy="50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Giao diện thân thiện, thao tác đơn giản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6495702"/>
            <a:ext cx="1365401" cy="988119"/>
          </a:xfrm>
          <a:custGeom>
            <a:avLst/>
            <a:gdLst/>
            <a:ahLst/>
            <a:cxnLst/>
            <a:rect l="l" t="t" r="r" b="b"/>
            <a:pathLst>
              <a:path w="1365401" h="988119">
                <a:moveTo>
                  <a:pt x="0" y="0"/>
                </a:moveTo>
                <a:lnTo>
                  <a:pt x="1365401" y="0"/>
                </a:lnTo>
                <a:lnTo>
                  <a:pt x="1365401" y="988119"/>
                </a:lnTo>
                <a:lnTo>
                  <a:pt x="0" y="988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82492" y="6749810"/>
            <a:ext cx="857817" cy="5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20"/>
              </a:lnSpc>
              <a:spcBef>
                <a:spcPct val="0"/>
              </a:spcBef>
            </a:pPr>
            <a:r>
              <a:rPr lang="en-US" sz="332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31079" y="8266483"/>
            <a:ext cx="10769078" cy="50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Tính năng bảo mật, thống kê và báo cáo đầy đủ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8020865"/>
            <a:ext cx="1365401" cy="988119"/>
          </a:xfrm>
          <a:custGeom>
            <a:avLst/>
            <a:gdLst/>
            <a:ahLst/>
            <a:cxnLst/>
            <a:rect l="l" t="t" r="r" b="b"/>
            <a:pathLst>
              <a:path w="1365401" h="988119">
                <a:moveTo>
                  <a:pt x="0" y="0"/>
                </a:moveTo>
                <a:lnTo>
                  <a:pt x="1365401" y="0"/>
                </a:lnTo>
                <a:lnTo>
                  <a:pt x="1365401" y="988119"/>
                </a:lnTo>
                <a:lnTo>
                  <a:pt x="0" y="988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82492" y="8274973"/>
            <a:ext cx="857817" cy="5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20"/>
              </a:lnSpc>
              <a:spcBef>
                <a:spcPct val="0"/>
              </a:spcBef>
            </a:pPr>
            <a:r>
              <a:rPr lang="en-US" sz="332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04</a:t>
            </a:r>
          </a:p>
        </p:txBody>
      </p:sp>
      <p:sp>
        <p:nvSpPr>
          <p:cNvPr id="15" name="Freeform 15"/>
          <p:cNvSpPr/>
          <p:nvPr/>
        </p:nvSpPr>
        <p:spPr>
          <a:xfrm rot="-10800000">
            <a:off x="13907380" y="-342116"/>
            <a:ext cx="2735314" cy="1370816"/>
          </a:xfrm>
          <a:custGeom>
            <a:avLst/>
            <a:gdLst/>
            <a:ahLst/>
            <a:cxnLst/>
            <a:rect l="l" t="t" r="r" b="b"/>
            <a:pathLst>
              <a:path w="2735314" h="1370816">
                <a:moveTo>
                  <a:pt x="0" y="0"/>
                </a:moveTo>
                <a:lnTo>
                  <a:pt x="2735314" y="0"/>
                </a:lnTo>
                <a:lnTo>
                  <a:pt x="2735314" y="1370816"/>
                </a:lnTo>
                <a:lnTo>
                  <a:pt x="0" y="1370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850706" y="1532693"/>
            <a:ext cx="1579579" cy="696989"/>
          </a:xfrm>
          <a:custGeom>
            <a:avLst/>
            <a:gdLst/>
            <a:ahLst/>
            <a:cxnLst/>
            <a:rect l="l" t="t" r="r" b="b"/>
            <a:pathLst>
              <a:path w="1579579" h="696989">
                <a:moveTo>
                  <a:pt x="0" y="0"/>
                </a:moveTo>
                <a:lnTo>
                  <a:pt x="1579578" y="0"/>
                </a:lnTo>
                <a:lnTo>
                  <a:pt x="1579578" y="696989"/>
                </a:lnTo>
                <a:lnTo>
                  <a:pt x="0" y="6969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825753"/>
            <a:ext cx="18715563" cy="5461247"/>
          </a:xfrm>
          <a:prstGeom prst="rect">
            <a:avLst/>
          </a:prstGeom>
          <a:solidFill>
            <a:srgbClr val="E2E7EB"/>
          </a:solidFill>
        </p:spPr>
      </p:sp>
      <p:sp>
        <p:nvSpPr>
          <p:cNvPr id="3" name="TextBox 3"/>
          <p:cNvSpPr txBox="1"/>
          <p:nvPr/>
        </p:nvSpPr>
        <p:spPr>
          <a:xfrm>
            <a:off x="7987784" y="3438663"/>
            <a:ext cx="8794895" cy="122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95"/>
              </a:lnSpc>
            </a:pPr>
            <a:r>
              <a:rPr lang="en-US" sz="8699" b="1">
                <a:solidFill>
                  <a:srgbClr val="FFFFFF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CẢM ƠN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06235" y="5195205"/>
            <a:ext cx="879489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u="none">
                <a:solidFill>
                  <a:srgbClr val="0288D0"/>
                </a:solidFill>
                <a:latin typeface="Cabin"/>
                <a:ea typeface="Cabin"/>
                <a:cs typeface="Cabin"/>
                <a:sym typeface="Cabin"/>
              </a:rPr>
              <a:t>Cảm ơn bạn đã lắng nghe!</a:t>
            </a:r>
          </a:p>
        </p:txBody>
      </p:sp>
      <p:sp>
        <p:nvSpPr>
          <p:cNvPr id="5" name="Freeform 5"/>
          <p:cNvSpPr/>
          <p:nvPr/>
        </p:nvSpPr>
        <p:spPr>
          <a:xfrm>
            <a:off x="3318104" y="2583929"/>
            <a:ext cx="4483648" cy="4483648"/>
          </a:xfrm>
          <a:custGeom>
            <a:avLst/>
            <a:gdLst/>
            <a:ahLst/>
            <a:cxnLst/>
            <a:rect l="l" t="t" r="r" b="b"/>
            <a:pathLst>
              <a:path w="4483648" h="4483648">
                <a:moveTo>
                  <a:pt x="0" y="0"/>
                </a:moveTo>
                <a:lnTo>
                  <a:pt x="4483648" y="0"/>
                </a:lnTo>
                <a:lnTo>
                  <a:pt x="4483648" y="4483648"/>
                </a:lnTo>
                <a:lnTo>
                  <a:pt x="0" y="448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318104" y="4825787"/>
            <a:ext cx="4483648" cy="2221931"/>
          </a:xfrm>
          <a:custGeom>
            <a:avLst/>
            <a:gdLst/>
            <a:ahLst/>
            <a:cxnLst/>
            <a:rect l="l" t="t" r="r" b="b"/>
            <a:pathLst>
              <a:path w="4483648" h="2221931">
                <a:moveTo>
                  <a:pt x="0" y="0"/>
                </a:moveTo>
                <a:lnTo>
                  <a:pt x="4483648" y="0"/>
                </a:lnTo>
                <a:lnTo>
                  <a:pt x="4483648" y="2221931"/>
                </a:lnTo>
                <a:lnTo>
                  <a:pt x="0" y="2221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01790"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868</Words>
  <Application>Microsoft Office PowerPoint</Application>
  <PresentationFormat>Custom</PresentationFormat>
  <Paragraphs>128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Aptos</vt:lpstr>
      <vt:lpstr>Cabin</vt:lpstr>
      <vt:lpstr>Arial</vt:lpstr>
      <vt:lpstr>Be Vietnam Ultra-Bold</vt:lpstr>
      <vt:lpstr>Muli Ultra-Bold</vt:lpstr>
      <vt:lpstr>Open Sauce</vt:lpstr>
      <vt:lpstr>Francois One</vt:lpstr>
      <vt:lpstr>Be Vietnam</vt:lpstr>
      <vt:lpstr>Open Sauce Bold</vt:lpstr>
      <vt:lpstr>Public Sans</vt:lpstr>
      <vt:lpstr>Calibri</vt:lpstr>
      <vt:lpstr>Be Vietnam Medium</vt:lpstr>
      <vt:lpstr>Asap Semi-Bold</vt:lpstr>
      <vt:lpstr>Muli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báo cáo đồ án tốt nghiệp</dc:title>
  <cp:lastModifiedBy>ㅤ tho493</cp:lastModifiedBy>
  <cp:revision>5</cp:revision>
  <dcterms:created xsi:type="dcterms:W3CDTF">2006-08-16T00:00:00Z</dcterms:created>
  <dcterms:modified xsi:type="dcterms:W3CDTF">2025-11-17T08:55:25Z</dcterms:modified>
  <dc:identifier>DAG4dy-ky_s</dc:identifier>
</cp:coreProperties>
</file>